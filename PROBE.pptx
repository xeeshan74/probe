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15"/>
  </p:notesMasterIdLst>
  <p:sldIdLst>
    <p:sldId id="256" r:id="rId3"/>
    <p:sldId id="257" r:id="rId4"/>
    <p:sldId id="258" r:id="rId5"/>
    <p:sldId id="259" r:id="rId6"/>
    <p:sldId id="260" r:id="rId7"/>
    <p:sldId id="261" r:id="rId8"/>
    <p:sldId id="266" r:id="rId9"/>
    <p:sldId id="267" r:id="rId10"/>
    <p:sldId id="262" r:id="rId11"/>
    <p:sldId id="263" r:id="rId12"/>
    <p:sldId id="264" r:id="rId13"/>
    <p:sldId id="265" r:id="rId14"/>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9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88" name="Google Shape;88;p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89" name="Google Shape;89;p1: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lvl="0" indent="0" algn="l" rtl="0">
              <a:lnSpc>
                <a:spcPct val="200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Good evening everyone. Our Capstone potential candidate is a product called PROBE.</a:t>
            </a:r>
            <a:br>
              <a:rPr lang="en-US" sz="1100">
                <a:latin typeface="Times New Roman"/>
                <a:ea typeface="Times New Roman"/>
                <a:cs typeface="Times New Roman"/>
                <a:sym typeface="Times New Roman"/>
              </a:rPr>
            </a:br>
            <a:r>
              <a:rPr lang="en-US" sz="1100">
                <a:latin typeface="Times New Roman"/>
                <a:ea typeface="Times New Roman"/>
                <a:cs typeface="Times New Roman"/>
                <a:sym typeface="Times New Roman"/>
              </a:rPr>
              <a:t>PROBE for Executives is designed to solve a communication and visibility problem in enterprise security. It does not try to be a full penetration-testing platform. It does not try to exploit systems. Its value is in helping organizations see themselves from the outside and understand which visible exposures deserve attention first.</a:t>
            </a:r>
            <a:br>
              <a:rPr lang="en-US" sz="1100">
                <a:latin typeface="Times New Roman"/>
                <a:ea typeface="Times New Roman"/>
                <a:cs typeface="Times New Roman"/>
                <a:sym typeface="Times New Roman"/>
              </a:rPr>
            </a:br>
            <a:endParaRPr sz="1400" b="0" i="0" u="none" strike="noStrike" cap="none">
              <a:solidFill>
                <a:schemeClr val="dk1"/>
              </a:solidFill>
              <a:latin typeface="Arial"/>
              <a:ea typeface="Arial"/>
              <a:cs typeface="Arial"/>
              <a:sym typeface="Arial"/>
            </a:endParaRPr>
          </a:p>
        </p:txBody>
      </p:sp>
      <p:sp>
        <p:nvSpPr>
          <p:cNvPr id="91" name="Google Shape;91;p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92" name="Google Shape;92;p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100" name="Google Shape;100;p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101" name="Google Shape;101;p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SzPts val="1100"/>
              <a:buNone/>
            </a:pPr>
            <a:r>
              <a:rPr lang="en-US" sz="1400"/>
              <a:t>What?</a:t>
            </a:r>
            <a:br>
              <a:rPr lang="en-US" sz="1400"/>
            </a:br>
            <a:r>
              <a:rPr lang="en-US" sz="1400"/>
              <a:t>Let’s start by looking at the core problem we face today. I call it 'The Visibility Gap.</a:t>
            </a:r>
            <a:endParaRPr sz="1400"/>
          </a:p>
          <a:p>
            <a:pPr marL="0" lvl="0" indent="0" algn="l" rtl="0">
              <a:lnSpc>
                <a:spcPct val="115000"/>
              </a:lnSpc>
              <a:spcBef>
                <a:spcPts val="1200"/>
              </a:spcBef>
              <a:spcAft>
                <a:spcPts val="0"/>
              </a:spcAft>
              <a:buClr>
                <a:schemeClr val="dk1"/>
              </a:buClr>
              <a:buSzPts val="1100"/>
              <a:buFont typeface="Arial"/>
              <a:buNone/>
            </a:pPr>
            <a:br>
              <a:rPr lang="en-US" sz="1400"/>
            </a:br>
            <a:r>
              <a:rPr lang="en-US" sz="1400"/>
              <a:t>As our digital footprint expands, so does the number of doors and windows into our organization. On the screen, you see a snapshot of our typical public-facing assets. We rely on web applications, login portals, VPNs, and remote access gateways to keep the business running. We have public APIs driving our digital services, development and staging systems for our engineers, complex email infrastructure, and countless public IPs and certificates.</a:t>
            </a:r>
            <a:endParaRPr sz="1400"/>
          </a:p>
          <a:p>
            <a:pPr marL="0" lvl="0" indent="0" algn="l" rtl="0">
              <a:lnSpc>
                <a:spcPct val="115000"/>
              </a:lnSpc>
              <a:spcBef>
                <a:spcPts val="1200"/>
              </a:spcBef>
              <a:spcAft>
                <a:spcPts val="0"/>
              </a:spcAft>
              <a:buClr>
                <a:schemeClr val="dk1"/>
              </a:buClr>
              <a:buSzPts val="1100"/>
              <a:buFont typeface="Arial"/>
              <a:buNone/>
            </a:pPr>
            <a:r>
              <a:rPr lang="en-US" sz="1400"/>
              <a:t>Every single one of these is necessary for modern business. But every single one of these is also visible to the public internet.</a:t>
            </a:r>
            <a:endParaRPr sz="1400"/>
          </a:p>
          <a:p>
            <a:pPr marL="0" lvl="0" indent="0" algn="l" rtl="0">
              <a:lnSpc>
                <a:spcPct val="115000"/>
              </a:lnSpc>
              <a:spcBef>
                <a:spcPts val="1200"/>
              </a:spcBef>
              <a:spcAft>
                <a:spcPts val="0"/>
              </a:spcAft>
              <a:buClr>
                <a:schemeClr val="dk1"/>
              </a:buClr>
              <a:buSzPts val="1100"/>
              <a:buFont typeface="Arial"/>
              <a:buNone/>
            </a:pPr>
            <a:r>
              <a:rPr lang="en-US" sz="1400"/>
              <a:t>The fundamental challenge we face isn't necessarily that these assets exist. The challenge is a translation problem. When our security teams assess our internet-facing infrastructure, they generate reports filled with highly technical data DNS records, open ports, HTTP headers, TLS cipher suites, and CVE designations.</a:t>
            </a:r>
            <a:endParaRPr sz="1400"/>
          </a:p>
          <a:p>
            <a:pPr marL="0" lvl="0" indent="0" algn="l" rtl="0">
              <a:lnSpc>
                <a:spcPct val="115000"/>
              </a:lnSpc>
              <a:spcBef>
                <a:spcPts val="1200"/>
              </a:spcBef>
              <a:spcAft>
                <a:spcPts val="0"/>
              </a:spcAft>
              <a:buClr>
                <a:schemeClr val="dk1"/>
              </a:buClr>
              <a:buSzPts val="1100"/>
              <a:buFont typeface="Arial"/>
              <a:buNone/>
            </a:pPr>
            <a:r>
              <a:rPr lang="en-US" sz="1400"/>
              <a:t>But as enterprise leaders, you don't need a list of open ports. You need to understand business risk. When you ask, 'How exposed are we right now?' a spreadsheet of technical vulnerabilities doesn't answer the question in a way that helps you make strategic decisions, allocate budget, or assess brand reputation risk.</a:t>
            </a:r>
            <a:endParaRPr sz="1400"/>
          </a:p>
          <a:p>
            <a:pPr marL="0" lvl="0" indent="0" algn="l" rtl="0">
              <a:lnSpc>
                <a:spcPct val="115000"/>
              </a:lnSpc>
              <a:spcBef>
                <a:spcPts val="1200"/>
              </a:spcBef>
              <a:spcAft>
                <a:spcPts val="0"/>
              </a:spcAft>
              <a:buClr>
                <a:schemeClr val="dk1"/>
              </a:buClr>
              <a:buSzPts val="1100"/>
              <a:buFont typeface="Arial"/>
              <a:buNone/>
            </a:pPr>
            <a:r>
              <a:rPr lang="en-US" sz="1400"/>
              <a:t>This disconnect between the deeply technical reality of our network and the strategic risk perspective required by the board is the visibility gap. And until we bridge that gap, we are operating with a significant blind spot regarding our true public exposure."</a:t>
            </a:r>
            <a:endParaRPr sz="1400"/>
          </a:p>
          <a:p>
            <a:pPr marL="0" marR="0" lvl="0" indent="0" algn="l" rtl="0">
              <a:spcBef>
                <a:spcPts val="1200"/>
              </a:spcBef>
              <a:spcAft>
                <a:spcPts val="0"/>
              </a:spcAft>
              <a:buNone/>
            </a:pPr>
            <a:endParaRPr sz="1400"/>
          </a:p>
        </p:txBody>
      </p:sp>
      <p:sp>
        <p:nvSpPr>
          <p:cNvPr id="103" name="Google Shape;103;p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104" name="Google Shape;104;p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125" name="Google Shape;125;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126" name="Google Shape;126;p3: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SzPts val="1100"/>
              <a:buNone/>
            </a:pPr>
            <a:r>
              <a:rPr lang="en-US" sz="1400"/>
              <a:t>Why does this visibility gap matter? Because our blind spots are the exact places where attackers begin their work</a:t>
            </a:r>
            <a:endParaRPr sz="1400"/>
          </a:p>
          <a:p>
            <a:pPr marL="0" lvl="0" indent="0" algn="l" rtl="0">
              <a:lnSpc>
                <a:spcPct val="115000"/>
              </a:lnSpc>
              <a:spcBef>
                <a:spcPts val="1200"/>
              </a:spcBef>
              <a:spcAft>
                <a:spcPts val="0"/>
              </a:spcAft>
              <a:buClr>
                <a:schemeClr val="dk1"/>
              </a:buClr>
              <a:buSzPts val="1100"/>
              <a:buFont typeface="Arial"/>
              <a:buNone/>
            </a:pPr>
            <a:br>
              <a:rPr lang="en-US" sz="1400"/>
            </a:br>
            <a:br>
              <a:rPr lang="en-US" sz="1400"/>
            </a:br>
            <a:r>
              <a:rPr lang="en-US" sz="1400"/>
              <a:t>Let’s shift our perspective for a moment and look at our organization from the outside through the eyes of an attacker.</a:t>
            </a:r>
            <a:endParaRPr sz="1400"/>
          </a:p>
          <a:p>
            <a:pPr marL="0" lvl="0" indent="0" algn="l" rtl="0">
              <a:lnSpc>
                <a:spcPct val="115000"/>
              </a:lnSpc>
              <a:spcBef>
                <a:spcPts val="1200"/>
              </a:spcBef>
              <a:spcAft>
                <a:spcPts val="0"/>
              </a:spcAft>
              <a:buClr>
                <a:schemeClr val="dk1"/>
              </a:buClr>
              <a:buSzPts val="1100"/>
              <a:buFont typeface="Arial"/>
              <a:buNone/>
            </a:pPr>
            <a:r>
              <a:rPr lang="en-US" sz="1400"/>
              <a:t>Before a threat actor ever launches a sophisticated cyberattack, they do their homework. They perform what we call 'outside-in reconnaissance.' They aren't breaking through our firewalls yet; they are simply standing on the digital sidewalk, looking at our house, and checking to see which windows are unlocked.</a:t>
            </a:r>
            <a:endParaRPr sz="1400"/>
          </a:p>
          <a:p>
            <a:pPr marL="0" lvl="0" indent="0" algn="l" rtl="0">
              <a:lnSpc>
                <a:spcPct val="115000"/>
              </a:lnSpc>
              <a:spcBef>
                <a:spcPts val="1200"/>
              </a:spcBef>
              <a:spcAft>
                <a:spcPts val="0"/>
              </a:spcAft>
              <a:buClr>
                <a:schemeClr val="dk1"/>
              </a:buClr>
              <a:buSzPts val="1100"/>
              <a:buFont typeface="Arial"/>
              <a:buNone/>
            </a:pPr>
            <a:r>
              <a:rPr lang="en-US" sz="1400"/>
              <a:t>What do they see? As outlined on the right, they often find exposed login pages that shouldn't be publicly accessible. They discover weak email authentication that makes our brand easy to spoof. They find forgotten development systems that were spun up for a quick test and never taken down. They spot expired certificates, missing web controls, and orphaned assets that our IT team doesn't even know exist anymore.</a:t>
            </a:r>
            <a:endParaRPr sz="1400"/>
          </a:p>
          <a:p>
            <a:pPr marL="0" lvl="0" indent="0" algn="l" rtl="0">
              <a:lnSpc>
                <a:spcPct val="115000"/>
              </a:lnSpc>
              <a:spcBef>
                <a:spcPts val="1200"/>
              </a:spcBef>
              <a:spcAft>
                <a:spcPts val="0"/>
              </a:spcAft>
              <a:buClr>
                <a:schemeClr val="dk1"/>
              </a:buClr>
              <a:buSzPts val="1100"/>
              <a:buFont typeface="Arial"/>
              <a:buNone/>
            </a:pPr>
            <a:r>
              <a:rPr lang="en-US" sz="1400"/>
              <a:t>Now, I want to emphasize a critical point here: any one of these findings on its own might not be a critical, 'drop-everything' emergency. A missing security header or an exposed dev environment might seem like low-hanging fruit.</a:t>
            </a:r>
            <a:endParaRPr sz="1400"/>
          </a:p>
          <a:p>
            <a:pPr marL="0" lvl="0" indent="0" algn="l" rtl="0">
              <a:lnSpc>
                <a:spcPct val="115000"/>
              </a:lnSpc>
              <a:spcBef>
                <a:spcPts val="1200"/>
              </a:spcBef>
              <a:spcAft>
                <a:spcPts val="0"/>
              </a:spcAft>
              <a:buClr>
                <a:schemeClr val="dk1"/>
              </a:buClr>
              <a:buSzPts val="1100"/>
              <a:buFont typeface="Arial"/>
              <a:buNone/>
            </a:pPr>
            <a:r>
              <a:rPr lang="en-US" sz="1400"/>
              <a:t>But attackers don't look at these in isolation. Collectively, these findings paint a vivid picture of our security posture. They signal to an attacker how well we govern our IT environment. A messy external perimeter is an invitation. It shows them exactly where our weak points are.</a:t>
            </a:r>
            <a:endParaRPr sz="1400"/>
          </a:p>
          <a:p>
            <a:pPr marL="0" lvl="0" indent="0" algn="l" rtl="0">
              <a:lnSpc>
                <a:spcPct val="115000"/>
              </a:lnSpc>
              <a:spcBef>
                <a:spcPts val="1200"/>
              </a:spcBef>
              <a:spcAft>
                <a:spcPts val="0"/>
              </a:spcAft>
              <a:buClr>
                <a:schemeClr val="dk1"/>
              </a:buClr>
              <a:buSzPts val="1100"/>
              <a:buFont typeface="Arial"/>
              <a:buNone/>
            </a:pPr>
            <a:r>
              <a:rPr lang="en-US" sz="1400"/>
              <a:t>This is where PROBE comes in. PROBE is designed to safely do this exact same reconnaissance, but for us. It helps us see exactly what the attacker sees, without intrusive testing, so we can clean up our external perimeter before it gets exploited."</a:t>
            </a:r>
            <a:endParaRPr sz="1400"/>
          </a:p>
          <a:p>
            <a:pPr marL="0" marR="0" lvl="0" indent="0" algn="l" rtl="0">
              <a:spcBef>
                <a:spcPts val="1200"/>
              </a:spcBef>
              <a:spcAft>
                <a:spcPts val="0"/>
              </a:spcAft>
              <a:buNone/>
            </a:pPr>
            <a:endParaRPr sz="1400"/>
          </a:p>
        </p:txBody>
      </p:sp>
      <p:sp>
        <p:nvSpPr>
          <p:cNvPr id="128" name="Google Shape;128;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129" name="Google Shape;129;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150" name="Google Shape;150;p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151" name="Google Shape;151;p4: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53" name="Google Shape;153;p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154" name="Google Shape;154;p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173" name="Google Shape;173;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174" name="Google Shape;174;p5: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6" name="Google Shape;176;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177" name="Google Shape;177;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195" name="Google Shape;195;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196" name="Google Shape;196;p6: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98" name="Google Shape;198;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199" name="Google Shape;199;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807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210" name="Google Shape;210;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211" name="Google Shape;211;p7: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13" name="Google Shape;213;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214" name="Google Shape;214;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239" name="Google Shape;239;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240" name="Google Shape;240;p8: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42" name="Google Shape;242;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243" name="Google Shape;243;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265" name="Google Shape;265;p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266" name="Google Shape;266;p9: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68" name="Google Shape;268;p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269" name="Google Shape;269;p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a:p>
        </p:txBody>
      </p:sp>
      <p:sp>
        <p:nvSpPr>
          <p:cNvPr id="282" name="Google Shape;282;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1.7.2013</a:t>
            </a:r>
            <a:endParaRPr/>
          </a:p>
        </p:txBody>
      </p:sp>
      <p:sp>
        <p:nvSpPr>
          <p:cNvPr id="283" name="Google Shape;283;p10: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85" name="Google Shape;285;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endParaRPr sz="1200"/>
          </a:p>
        </p:txBody>
      </p:sp>
      <p:sp>
        <p:nvSpPr>
          <p:cNvPr id="286" name="Google Shape;286;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 name="Google Shape;18;p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3"/>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22" name="Google Shape;22;p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4" name="Google Shape;24;p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4"/>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8" name="Google Shape;28;p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 name="Google Shape;30;p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 name="Google Shape;33;p5"/>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34" name="Google Shape;34;p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6" name="Google Shape;36;p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9" name="Google Shape;39;p6"/>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6"/>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1" name="Google Shape;41;p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2" name="Google Shape;42;p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7"/>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7" name="Google Shape;47;p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8" name="Google Shape;48;p7"/>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9" name="Google Shape;49;p7"/>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0" name="Google Shape;50;p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 name="Google Shape;55;p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7" name="Google Shape;57;p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9"/>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2" name="Google Shape;62;p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0"/>
          <p:cNvSpPr>
            <a:spLocks noGrp="1"/>
          </p:cNvSpPr>
          <p:nvPr>
            <p:ph type="pic" idx="2"/>
          </p:nvPr>
        </p:nvSpPr>
        <p:spPr>
          <a:xfrm>
            <a:off x="3887391" y="740569"/>
            <a:ext cx="4629150" cy="3655219"/>
          </a:xfrm>
          <a:prstGeom prst="rect">
            <a:avLst/>
          </a:prstGeom>
          <a:noFill/>
          <a:ln>
            <a:noFill/>
          </a:ln>
        </p:spPr>
      </p:sp>
      <p:sp>
        <p:nvSpPr>
          <p:cNvPr id="68" name="Google Shape;68;p10"/>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9" name="Google Shape;69;p1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1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11"/>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5" name="Google Shape;75;p1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 name="Google Shape;77;p1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12"/>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1" name="Google Shape;81;p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 name="Google Shape;82;p1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8758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sp>
        <p:nvSpPr>
          <p:cNvPr id="94" name="Google Shape;94;p15"/>
          <p:cNvSpPr/>
          <p:nvPr/>
        </p:nvSpPr>
        <p:spPr>
          <a:xfrm>
            <a:off x="8128000" y="0"/>
            <a:ext cx="8128000" cy="9144000"/>
          </a:xfrm>
          <a:prstGeom prst="roundRect">
            <a:avLst>
              <a:gd name="adj" fmla="val 0"/>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95" name="Google Shape;95;p15"/>
          <p:cNvPicPr preferRelativeResize="0"/>
          <p:nvPr/>
        </p:nvPicPr>
        <p:blipFill rotWithShape="1">
          <a:blip r:embed="rId3">
            <a:alphaModFix/>
          </a:blip>
          <a:srcRect l="25193" r="25193"/>
          <a:stretch/>
        </p:blipFill>
        <p:spPr>
          <a:xfrm>
            <a:off x="8128000" y="0"/>
            <a:ext cx="8128000" cy="9144000"/>
          </a:xfrm>
          <a:prstGeom prst="rect">
            <a:avLst/>
          </a:prstGeom>
          <a:noFill/>
          <a:ln>
            <a:noFill/>
          </a:ln>
        </p:spPr>
      </p:pic>
      <p:sp>
        <p:nvSpPr>
          <p:cNvPr id="96" name="Google Shape;96;p15"/>
          <p:cNvSpPr/>
          <p:nvPr/>
        </p:nvSpPr>
        <p:spPr>
          <a:xfrm>
            <a:off x="1016000" y="3556000"/>
            <a:ext cx="1270000" cy="1016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 name="Google Shape;97;p15"/>
          <p:cNvSpPr/>
          <p:nvPr/>
        </p:nvSpPr>
        <p:spPr>
          <a:xfrm>
            <a:off x="1016000" y="3937000"/>
            <a:ext cx="6985000" cy="3810000"/>
          </a:xfrm>
          <a:prstGeom prst="rect">
            <a:avLst/>
          </a:prstGeom>
          <a:noFill/>
          <a:ln>
            <a:noFill/>
          </a:ln>
        </p:spPr>
        <p:txBody>
          <a:bodyPr spcFirstLastPara="1" wrap="square" lIns="101600" tIns="101600" rIns="101600" bIns="101600" anchor="ctr" anchorCtr="0">
            <a:noAutofit/>
          </a:bodyPr>
          <a:lstStyle/>
          <a:p>
            <a:pPr marL="0" marR="0" lvl="0" indent="0" algn="l" rtl="0">
              <a:lnSpc>
                <a:spcPct val="80000"/>
              </a:lnSpc>
              <a:spcBef>
                <a:spcPts val="0"/>
              </a:spcBef>
              <a:spcAft>
                <a:spcPts val="0"/>
              </a:spcAft>
              <a:buNone/>
            </a:pPr>
            <a:r>
              <a:rPr lang="en-US" sz="6120" b="1" i="0" u="none" strike="noStrike" cap="none">
                <a:solidFill>
                  <a:srgbClr val="0F172A"/>
                </a:solidFill>
                <a:latin typeface="Arial"/>
                <a:ea typeface="Arial"/>
                <a:cs typeface="Arial"/>
                <a:sym typeface="Arial"/>
              </a:rPr>
              <a:t>PROBE for</a:t>
            </a:r>
            <a:endParaRPr sz="935" b="0" i="0" u="none" strike="noStrike" cap="none">
              <a:solidFill>
                <a:srgbClr val="000000"/>
              </a:solidFill>
              <a:latin typeface="Arial"/>
              <a:ea typeface="Arial"/>
              <a:cs typeface="Arial"/>
              <a:sym typeface="Arial"/>
            </a:endParaRPr>
          </a:p>
          <a:p>
            <a:pPr marL="0" marR="0" lvl="0" indent="0" algn="l" rtl="0">
              <a:lnSpc>
                <a:spcPct val="80000"/>
              </a:lnSpc>
              <a:spcBef>
                <a:spcPts val="800"/>
              </a:spcBef>
              <a:spcAft>
                <a:spcPts val="0"/>
              </a:spcAft>
              <a:buNone/>
            </a:pPr>
            <a:r>
              <a:rPr lang="en-US" sz="6120" b="1" i="0" u="none" strike="noStrike" cap="none">
                <a:solidFill>
                  <a:srgbClr val="0F172A"/>
                </a:solidFill>
                <a:latin typeface="Arial"/>
                <a:ea typeface="Arial"/>
                <a:cs typeface="Arial"/>
                <a:sym typeface="Arial"/>
              </a:rPr>
              <a:t>Executives</a:t>
            </a:r>
            <a:endParaRPr/>
          </a:p>
          <a:p>
            <a:pPr marL="0" marR="0" lvl="0" indent="0" algn="l" rtl="0">
              <a:lnSpc>
                <a:spcPct val="80000"/>
              </a:lnSpc>
              <a:spcBef>
                <a:spcPts val="1600"/>
              </a:spcBef>
              <a:spcAft>
                <a:spcPts val="0"/>
              </a:spcAft>
              <a:buNone/>
            </a:pPr>
            <a:r>
              <a:rPr lang="en-US" sz="1530" b="1" i="0" u="none" strike="noStrike" cap="none">
                <a:solidFill>
                  <a:srgbClr val="1E3A8A"/>
                </a:solidFill>
                <a:latin typeface="Arial"/>
                <a:ea typeface="Arial"/>
                <a:cs typeface="Arial"/>
                <a:sym typeface="Arial"/>
              </a:rPr>
              <a:t>P</a:t>
            </a:r>
            <a:r>
              <a:rPr lang="en-US" sz="1530" b="0" i="0" u="none" strike="noStrike" cap="none">
                <a:solidFill>
                  <a:srgbClr val="475569"/>
                </a:solidFill>
                <a:latin typeface="Arial"/>
                <a:ea typeface="Arial"/>
                <a:cs typeface="Arial"/>
                <a:sym typeface="Arial"/>
              </a:rPr>
              <a:t>ublic </a:t>
            </a:r>
            <a:r>
              <a:rPr lang="en-US" sz="1530" b="1" i="0" u="none" strike="noStrike" cap="none">
                <a:solidFill>
                  <a:srgbClr val="1E3A8A"/>
                </a:solidFill>
                <a:latin typeface="Arial"/>
                <a:ea typeface="Arial"/>
                <a:cs typeface="Arial"/>
                <a:sym typeface="Arial"/>
              </a:rPr>
              <a:t>R</a:t>
            </a:r>
            <a:r>
              <a:rPr lang="en-US" sz="1530" b="0" i="0" u="none" strike="noStrike" cap="none">
                <a:solidFill>
                  <a:srgbClr val="475569"/>
                </a:solidFill>
                <a:latin typeface="Arial"/>
                <a:ea typeface="Arial"/>
                <a:cs typeface="Arial"/>
                <a:sym typeface="Arial"/>
              </a:rPr>
              <a:t>isk </a:t>
            </a:r>
            <a:r>
              <a:rPr lang="en-US" sz="1530" b="1" i="0" u="none" strike="noStrike" cap="none">
                <a:solidFill>
                  <a:srgbClr val="1E3A8A"/>
                </a:solidFill>
                <a:latin typeface="Arial"/>
                <a:ea typeface="Arial"/>
                <a:cs typeface="Arial"/>
                <a:sym typeface="Arial"/>
              </a:rPr>
              <a:t>O</a:t>
            </a:r>
            <a:r>
              <a:rPr lang="en-US" sz="1530" b="0" i="0" u="none" strike="noStrike" cap="none">
                <a:solidFill>
                  <a:srgbClr val="475569"/>
                </a:solidFill>
                <a:latin typeface="Arial"/>
                <a:ea typeface="Arial"/>
                <a:cs typeface="Arial"/>
                <a:sym typeface="Arial"/>
              </a:rPr>
              <a:t>bservation and </a:t>
            </a:r>
            <a:r>
              <a:rPr lang="en-US" sz="1530" b="1" i="0" u="none" strike="noStrike" cap="none">
                <a:solidFill>
                  <a:srgbClr val="1E3A8A"/>
                </a:solidFill>
                <a:latin typeface="Arial"/>
                <a:ea typeface="Arial"/>
                <a:cs typeface="Arial"/>
                <a:sym typeface="Arial"/>
              </a:rPr>
              <a:t>B</a:t>
            </a:r>
            <a:r>
              <a:rPr lang="en-US" sz="1530" b="0" i="0" u="none" strike="noStrike" cap="none">
                <a:solidFill>
                  <a:srgbClr val="475569"/>
                </a:solidFill>
                <a:latin typeface="Arial"/>
                <a:ea typeface="Arial"/>
                <a:cs typeface="Arial"/>
                <a:sym typeface="Arial"/>
              </a:rPr>
              <a:t>usiness </a:t>
            </a:r>
            <a:r>
              <a:rPr lang="en-US" sz="1530" b="1" i="0" u="none" strike="noStrike" cap="none">
                <a:solidFill>
                  <a:srgbClr val="1E3A8A"/>
                </a:solidFill>
                <a:latin typeface="Arial"/>
                <a:ea typeface="Arial"/>
                <a:cs typeface="Arial"/>
                <a:sym typeface="Arial"/>
              </a:rPr>
              <a:t>E</a:t>
            </a:r>
            <a:r>
              <a:rPr lang="en-US" sz="1530" b="0" i="0" u="none" strike="noStrike" cap="none">
                <a:solidFill>
                  <a:srgbClr val="475569"/>
                </a:solidFill>
                <a:latin typeface="Arial"/>
                <a:ea typeface="Arial"/>
                <a:cs typeface="Arial"/>
                <a:sym typeface="Arial"/>
              </a:rPr>
              <a:t>xposure Reporting</a:t>
            </a:r>
            <a:endParaRPr/>
          </a:p>
          <a:p>
            <a:pPr marL="0" marR="0" lvl="0" indent="0" algn="l" rtl="0">
              <a:lnSpc>
                <a:spcPct val="80000"/>
              </a:lnSpc>
              <a:spcBef>
                <a:spcPts val="3000"/>
              </a:spcBef>
              <a:spcAft>
                <a:spcPts val="0"/>
              </a:spcAft>
              <a:buNone/>
            </a:pPr>
            <a:r>
              <a:rPr lang="en-US" sz="2040" b="0" i="0" u="none" strike="noStrike" cap="none">
                <a:solidFill>
                  <a:srgbClr val="475569"/>
                </a:solidFill>
                <a:latin typeface="Arial"/>
                <a:ea typeface="Arial"/>
                <a:cs typeface="Arial"/>
                <a:sym typeface="Arial"/>
              </a:rPr>
              <a:t>Translating Technical Exposure</a:t>
            </a:r>
            <a:endParaRPr/>
          </a:p>
          <a:p>
            <a:pPr marL="0" marR="0" lvl="0" indent="0" algn="l" rtl="0">
              <a:lnSpc>
                <a:spcPct val="80000"/>
              </a:lnSpc>
              <a:spcBef>
                <a:spcPts val="400"/>
              </a:spcBef>
              <a:spcAft>
                <a:spcPts val="0"/>
              </a:spcAft>
              <a:buNone/>
            </a:pPr>
            <a:r>
              <a:rPr lang="en-US" sz="2040" b="0" i="0" u="none" strike="noStrike" cap="none">
                <a:solidFill>
                  <a:srgbClr val="475569"/>
                </a:solidFill>
                <a:latin typeface="Arial"/>
                <a:ea typeface="Arial"/>
                <a:cs typeface="Arial"/>
                <a:sym typeface="Arial"/>
              </a:rPr>
              <a:t>into Business Risk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sp>
        <p:nvSpPr>
          <p:cNvPr id="106" name="Google Shape;106;p16"/>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The Visibility Gap</a:t>
            </a:r>
            <a:endParaRPr sz="1100" b="0" i="0" u="none" strike="noStrike" cap="none">
              <a:solidFill>
                <a:srgbClr val="000000"/>
              </a:solidFill>
              <a:latin typeface="Arial"/>
              <a:ea typeface="Arial"/>
              <a:cs typeface="Arial"/>
              <a:sym typeface="Arial"/>
            </a:endParaRPr>
          </a:p>
        </p:txBody>
      </p:sp>
      <p:sp>
        <p:nvSpPr>
          <p:cNvPr id="107" name="Google Shape;107;p16"/>
          <p:cNvSpPr/>
          <p:nvPr/>
        </p:nvSpPr>
        <p:spPr>
          <a:xfrm>
            <a:off x="1016000" y="1524000"/>
            <a:ext cx="14224000" cy="1270000"/>
          </a:xfrm>
          <a:prstGeom prst="roundRect">
            <a:avLst>
              <a:gd name="adj" fmla="val 0"/>
            </a:avLst>
          </a:prstGeom>
          <a:solidFill>
            <a:srgbClr val="F8FAFC"/>
          </a:solidFill>
          <a:ln w="12700" cap="flat" cmpd="sng">
            <a:solidFill>
              <a:srgbClr val="E2E8F0"/>
            </a:solidFill>
            <a:prstDash val="solid"/>
            <a:round/>
            <a:headEnd type="none" w="sm" len="sm"/>
            <a:tailEnd type="none" w="sm" len="sm"/>
          </a:ln>
        </p:spPr>
        <p:txBody>
          <a:bodyPr spcFirstLastPara="1" wrap="square" lIns="254000" tIns="101600" rIns="254000" bIns="101600" anchor="ctr" anchorCtr="0">
            <a:noAutofit/>
          </a:bodyPr>
          <a:lstStyle/>
          <a:p>
            <a:pPr marL="0" marR="0" lvl="0" indent="0" algn="l" rtl="0">
              <a:lnSpc>
                <a:spcPct val="80000"/>
              </a:lnSpc>
              <a:spcBef>
                <a:spcPts val="0"/>
              </a:spcBef>
              <a:spcAft>
                <a:spcPts val="0"/>
              </a:spcAft>
              <a:buNone/>
            </a:pPr>
            <a:r>
              <a:rPr lang="en-US" sz="2200" b="0" i="0" u="none" strike="noStrike" cap="none">
                <a:solidFill>
                  <a:srgbClr val="475569"/>
                </a:solidFill>
                <a:latin typeface="Arial"/>
                <a:ea typeface="Arial"/>
                <a:cs typeface="Arial"/>
                <a:sym typeface="Arial"/>
              </a:rPr>
              <a:t>Enterprise leaders often lack a clear view of what their organization exposes to the public internet. These exposures are frequently reported in highly technical formats that are difficult for executives to interpret in terms of business risk.</a:t>
            </a:r>
            <a:endParaRPr sz="1100" b="0" i="0" u="none" strike="noStrike" cap="none">
              <a:solidFill>
                <a:srgbClr val="000000"/>
              </a:solidFill>
              <a:latin typeface="Arial"/>
              <a:ea typeface="Arial"/>
              <a:cs typeface="Arial"/>
              <a:sym typeface="Arial"/>
            </a:endParaRPr>
          </a:p>
        </p:txBody>
      </p:sp>
      <p:sp>
        <p:nvSpPr>
          <p:cNvPr id="108" name="Google Shape;108;p16"/>
          <p:cNvSpPr/>
          <p:nvPr/>
        </p:nvSpPr>
        <p:spPr>
          <a:xfrm>
            <a:off x="1016000" y="3175000"/>
            <a:ext cx="6350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r>
              <a:rPr lang="en-US" sz="2000" b="1" i="0" u="none" strike="noStrike" cap="none">
                <a:solidFill>
                  <a:srgbClr val="1E3A8A"/>
                </a:solidFill>
                <a:latin typeface="Arial"/>
                <a:ea typeface="Arial"/>
                <a:cs typeface="Arial"/>
                <a:sym typeface="Arial"/>
              </a:rPr>
              <a:t>Common Public-Facing Assets:</a:t>
            </a:r>
            <a:endParaRPr sz="1100" b="0" i="0" u="none" strike="noStrike" cap="none">
              <a:solidFill>
                <a:srgbClr val="000000"/>
              </a:solidFill>
              <a:latin typeface="Arial"/>
              <a:ea typeface="Arial"/>
              <a:cs typeface="Arial"/>
              <a:sym typeface="Arial"/>
            </a:endParaRPr>
          </a:p>
        </p:txBody>
      </p:sp>
      <p:sp>
        <p:nvSpPr>
          <p:cNvPr id="109" name="Google Shape;109;p16"/>
          <p:cNvSpPr/>
          <p:nvPr/>
        </p:nvSpPr>
        <p:spPr>
          <a:xfrm>
            <a:off x="1016000" y="3937000"/>
            <a:ext cx="3175000" cy="1524000"/>
          </a:xfrm>
          <a:prstGeom prst="roundRect">
            <a:avLst>
              <a:gd name="adj" fmla="val 5000"/>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882"/>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Web</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Applications</a:t>
            </a:r>
            <a:endParaRPr/>
          </a:p>
        </p:txBody>
      </p:sp>
      <p:sp>
        <p:nvSpPr>
          <p:cNvPr id="110" name="Google Shape;110;p16"/>
          <p:cNvSpPr/>
          <p:nvPr/>
        </p:nvSpPr>
        <p:spPr>
          <a:xfrm>
            <a:off x="1016000" y="3937000"/>
            <a:ext cx="3175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 name="Google Shape;111;p16"/>
          <p:cNvSpPr/>
          <p:nvPr/>
        </p:nvSpPr>
        <p:spPr>
          <a:xfrm>
            <a:off x="4572000" y="3937000"/>
            <a:ext cx="3175000" cy="1524000"/>
          </a:xfrm>
          <a:prstGeom prst="roundRect">
            <a:avLst>
              <a:gd name="adj" fmla="val 5000"/>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882"/>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Login</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Portals</a:t>
            </a:r>
            <a:endParaRPr/>
          </a:p>
        </p:txBody>
      </p:sp>
      <p:sp>
        <p:nvSpPr>
          <p:cNvPr id="112" name="Google Shape;112;p16"/>
          <p:cNvSpPr/>
          <p:nvPr/>
        </p:nvSpPr>
        <p:spPr>
          <a:xfrm>
            <a:off x="4572000" y="3937000"/>
            <a:ext cx="3175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8128000" y="3937000"/>
            <a:ext cx="3175000" cy="1524000"/>
          </a:xfrm>
          <a:prstGeom prst="roundRect">
            <a:avLst>
              <a:gd name="adj" fmla="val 5000"/>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882"/>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VPN / Remote</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Access</a:t>
            </a:r>
            <a:endParaRPr/>
          </a:p>
        </p:txBody>
      </p:sp>
      <p:sp>
        <p:nvSpPr>
          <p:cNvPr id="114" name="Google Shape;114;p16"/>
          <p:cNvSpPr/>
          <p:nvPr/>
        </p:nvSpPr>
        <p:spPr>
          <a:xfrm>
            <a:off x="8128000" y="3937000"/>
            <a:ext cx="3175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 name="Google Shape;115;p16"/>
          <p:cNvSpPr/>
          <p:nvPr/>
        </p:nvSpPr>
        <p:spPr>
          <a:xfrm>
            <a:off x="11684000" y="3937000"/>
            <a:ext cx="3175000" cy="1524000"/>
          </a:xfrm>
          <a:prstGeom prst="roundRect">
            <a:avLst>
              <a:gd name="adj" fmla="val 5000"/>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882"/>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Public</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APIs</a:t>
            </a:r>
            <a:endParaRPr/>
          </a:p>
        </p:txBody>
      </p:sp>
      <p:sp>
        <p:nvSpPr>
          <p:cNvPr id="116" name="Google Shape;116;p16"/>
          <p:cNvSpPr/>
          <p:nvPr/>
        </p:nvSpPr>
        <p:spPr>
          <a:xfrm>
            <a:off x="11684000" y="3937000"/>
            <a:ext cx="3175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 name="Google Shape;117;p16"/>
          <p:cNvSpPr/>
          <p:nvPr/>
        </p:nvSpPr>
        <p:spPr>
          <a:xfrm>
            <a:off x="2794000" y="5842000"/>
            <a:ext cx="3175000" cy="1524000"/>
          </a:xfrm>
          <a:prstGeom prst="roundRect">
            <a:avLst>
              <a:gd name="adj" fmla="val 5000"/>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882"/>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Dev / Staging</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Systems</a:t>
            </a:r>
            <a:endParaRPr/>
          </a:p>
        </p:txBody>
      </p:sp>
      <p:sp>
        <p:nvSpPr>
          <p:cNvPr id="118" name="Google Shape;118;p16"/>
          <p:cNvSpPr/>
          <p:nvPr/>
        </p:nvSpPr>
        <p:spPr>
          <a:xfrm>
            <a:off x="2794000" y="5842000"/>
            <a:ext cx="3175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6350000" y="5842000"/>
            <a:ext cx="3175000" cy="1524000"/>
          </a:xfrm>
          <a:prstGeom prst="roundRect">
            <a:avLst>
              <a:gd name="adj" fmla="val 5000"/>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882"/>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Email</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Infrastructure</a:t>
            </a:r>
            <a:endParaRPr/>
          </a:p>
        </p:txBody>
      </p:sp>
      <p:sp>
        <p:nvSpPr>
          <p:cNvPr id="120" name="Google Shape;120;p16"/>
          <p:cNvSpPr/>
          <p:nvPr/>
        </p:nvSpPr>
        <p:spPr>
          <a:xfrm>
            <a:off x="6350000" y="5842000"/>
            <a:ext cx="3175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 name="Google Shape;121;p16"/>
          <p:cNvSpPr/>
          <p:nvPr/>
        </p:nvSpPr>
        <p:spPr>
          <a:xfrm>
            <a:off x="9906000" y="5842000"/>
            <a:ext cx="3175000" cy="1524000"/>
          </a:xfrm>
          <a:prstGeom prst="roundRect">
            <a:avLst>
              <a:gd name="adj" fmla="val 5000"/>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882"/>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Public IPs</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0F172A"/>
                </a:solidFill>
                <a:latin typeface="Arial"/>
                <a:ea typeface="Arial"/>
                <a:cs typeface="Arial"/>
                <a:sym typeface="Arial"/>
              </a:rPr>
              <a:t>&amp; Certificates</a:t>
            </a:r>
            <a:endParaRPr/>
          </a:p>
        </p:txBody>
      </p:sp>
      <p:sp>
        <p:nvSpPr>
          <p:cNvPr id="122" name="Google Shape;122;p16"/>
          <p:cNvSpPr/>
          <p:nvPr/>
        </p:nvSpPr>
        <p:spPr>
          <a:xfrm>
            <a:off x="9906000" y="5842000"/>
            <a:ext cx="3175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
        <p:cNvGrpSpPr/>
        <p:nvPr/>
      </p:nvGrpSpPr>
      <p:grpSpPr>
        <a:xfrm>
          <a:off x="0" y="0"/>
          <a:ext cx="0" cy="0"/>
          <a:chOff x="0" y="0"/>
          <a:chExt cx="0" cy="0"/>
        </a:xfrm>
      </p:grpSpPr>
      <p:sp>
        <p:nvSpPr>
          <p:cNvPr id="131" name="Google Shape;131;p17"/>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Attackers Start Outside</a:t>
            </a:r>
            <a:endParaRPr sz="1100" b="0" i="0" u="none" strike="noStrike" cap="none">
              <a:solidFill>
                <a:srgbClr val="000000"/>
              </a:solidFill>
              <a:latin typeface="Arial"/>
              <a:ea typeface="Arial"/>
              <a:cs typeface="Arial"/>
              <a:sym typeface="Arial"/>
            </a:endParaRPr>
          </a:p>
        </p:txBody>
      </p:sp>
      <p:pic>
        <p:nvPicPr>
          <p:cNvPr id="132" name="Google Shape;132;p17"/>
          <p:cNvPicPr preferRelativeResize="0"/>
          <p:nvPr/>
        </p:nvPicPr>
        <p:blipFill rotWithShape="1">
          <a:blip r:embed="rId3">
            <a:alphaModFix/>
          </a:blip>
          <a:srcRect t="221" b="221"/>
          <a:stretch/>
        </p:blipFill>
        <p:spPr>
          <a:xfrm>
            <a:off x="1016000" y="1778000"/>
            <a:ext cx="4572000" cy="6096000"/>
          </a:xfrm>
          <a:prstGeom prst="roundRect">
            <a:avLst>
              <a:gd name="adj" fmla="val 2222"/>
            </a:avLst>
          </a:prstGeom>
          <a:noFill/>
          <a:ln>
            <a:noFill/>
          </a:ln>
          <a:effectLst>
            <a:outerShdw blurRad="190500" dist="76200" dir="2700000" algn="tl" rotWithShape="0">
              <a:srgbClr val="000000">
                <a:alpha val="10196"/>
              </a:srgbClr>
            </a:outerShdw>
          </a:effectLst>
        </p:spPr>
      </p:pic>
      <p:sp>
        <p:nvSpPr>
          <p:cNvPr id="133" name="Google Shape;133;p17"/>
          <p:cNvSpPr/>
          <p:nvPr/>
        </p:nvSpPr>
        <p:spPr>
          <a:xfrm>
            <a:off x="6096000" y="1778000"/>
            <a:ext cx="8890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r>
              <a:rPr lang="en-US" sz="2000" b="1" i="0" u="none" strike="noStrike" cap="none">
                <a:solidFill>
                  <a:srgbClr val="1E3A8A"/>
                </a:solidFill>
                <a:latin typeface="Arial"/>
                <a:ea typeface="Arial"/>
                <a:cs typeface="Arial"/>
                <a:sym typeface="Arial"/>
              </a:rPr>
              <a:t>Outside-in reconnaissance reveals:</a:t>
            </a:r>
            <a:endParaRPr sz="1100" b="0" i="0" u="none" strike="noStrike" cap="none">
              <a:solidFill>
                <a:srgbClr val="000000"/>
              </a:solidFill>
              <a:latin typeface="Arial"/>
              <a:ea typeface="Arial"/>
              <a:cs typeface="Arial"/>
              <a:sym typeface="Arial"/>
            </a:endParaRPr>
          </a:p>
        </p:txBody>
      </p:sp>
      <p:sp>
        <p:nvSpPr>
          <p:cNvPr id="134" name="Google Shape;134;p17"/>
          <p:cNvSpPr/>
          <p:nvPr/>
        </p:nvSpPr>
        <p:spPr>
          <a:xfrm>
            <a:off x="6096000" y="2413000"/>
            <a:ext cx="4318000" cy="889000"/>
          </a:xfrm>
          <a:prstGeom prst="roundRect">
            <a:avLst>
              <a:gd name="adj" fmla="val 8571"/>
            </a:avLst>
          </a:prstGeom>
          <a:solidFill>
            <a:srgbClr val="F8FAFC"/>
          </a:solidFill>
          <a:ln w="12700" cap="flat" cmpd="sng">
            <a:solidFill>
              <a:srgbClr val="E2E8F0"/>
            </a:solidFill>
            <a:prstDash val="solid"/>
            <a:round/>
            <a:headEnd type="none" w="sm" len="sm"/>
            <a:tailEnd type="none" w="sm" len="sm"/>
          </a:ln>
        </p:spPr>
        <p:txBody>
          <a:bodyPr spcFirstLastPara="1" wrap="square" lIns="254000" tIns="101600" rIns="101600" bIns="101600" anchor="ctr" anchorCtr="0">
            <a:noAutofit/>
          </a:bodyPr>
          <a:lstStyle/>
          <a:p>
            <a:pPr marL="0" marR="0" lvl="0" indent="0" algn="l"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Exposed login pages</a:t>
            </a:r>
            <a:endParaRPr sz="1100" b="0" i="0" u="none" strike="noStrike" cap="none">
              <a:solidFill>
                <a:srgbClr val="000000"/>
              </a:solidFill>
              <a:latin typeface="Arial"/>
              <a:ea typeface="Arial"/>
              <a:cs typeface="Arial"/>
              <a:sym typeface="Arial"/>
            </a:endParaRPr>
          </a:p>
        </p:txBody>
      </p:sp>
      <p:sp>
        <p:nvSpPr>
          <p:cNvPr id="135" name="Google Shape;135;p17"/>
          <p:cNvSpPr/>
          <p:nvPr/>
        </p:nvSpPr>
        <p:spPr>
          <a:xfrm>
            <a:off x="6096000" y="2413000"/>
            <a:ext cx="76200" cy="889000"/>
          </a:xfrm>
          <a:prstGeom prst="roundRect">
            <a:avLst>
              <a:gd name="adj" fmla="val 0"/>
            </a:avLst>
          </a:prstGeom>
          <a:solidFill>
            <a:srgbClr val="EF4444"/>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 name="Google Shape;136;p17"/>
          <p:cNvSpPr/>
          <p:nvPr/>
        </p:nvSpPr>
        <p:spPr>
          <a:xfrm>
            <a:off x="10668000" y="2413000"/>
            <a:ext cx="4318000" cy="889000"/>
          </a:xfrm>
          <a:prstGeom prst="roundRect">
            <a:avLst>
              <a:gd name="adj" fmla="val 8571"/>
            </a:avLst>
          </a:prstGeom>
          <a:solidFill>
            <a:srgbClr val="F8FAFC"/>
          </a:solidFill>
          <a:ln w="12700" cap="flat" cmpd="sng">
            <a:solidFill>
              <a:srgbClr val="E2E8F0"/>
            </a:solidFill>
            <a:prstDash val="solid"/>
            <a:round/>
            <a:headEnd type="none" w="sm" len="sm"/>
            <a:tailEnd type="none" w="sm" len="sm"/>
          </a:ln>
        </p:spPr>
        <p:txBody>
          <a:bodyPr spcFirstLastPara="1" wrap="square" lIns="254000" tIns="101600" rIns="101600" bIns="101600" anchor="ctr" anchorCtr="0">
            <a:noAutofit/>
          </a:bodyPr>
          <a:lstStyle/>
          <a:p>
            <a:pPr marL="0" marR="0" lvl="0" indent="0" algn="l"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Public dev/staging systems</a:t>
            </a:r>
            <a:endParaRPr sz="1100" b="0" i="0" u="none" strike="noStrike" cap="none">
              <a:solidFill>
                <a:srgbClr val="000000"/>
              </a:solidFill>
              <a:latin typeface="Arial"/>
              <a:ea typeface="Arial"/>
              <a:cs typeface="Arial"/>
              <a:sym typeface="Arial"/>
            </a:endParaRPr>
          </a:p>
        </p:txBody>
      </p:sp>
      <p:sp>
        <p:nvSpPr>
          <p:cNvPr id="137" name="Google Shape;137;p17"/>
          <p:cNvSpPr/>
          <p:nvPr/>
        </p:nvSpPr>
        <p:spPr>
          <a:xfrm>
            <a:off x="10668000" y="2413000"/>
            <a:ext cx="76200" cy="889000"/>
          </a:xfrm>
          <a:prstGeom prst="roundRect">
            <a:avLst>
              <a:gd name="adj" fmla="val 0"/>
            </a:avLst>
          </a:prstGeom>
          <a:solidFill>
            <a:srgbClr val="EF4444"/>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 name="Google Shape;138;p17"/>
          <p:cNvSpPr/>
          <p:nvPr/>
        </p:nvSpPr>
        <p:spPr>
          <a:xfrm>
            <a:off x="6096000" y="3556000"/>
            <a:ext cx="4318000" cy="889000"/>
          </a:xfrm>
          <a:prstGeom prst="roundRect">
            <a:avLst>
              <a:gd name="adj" fmla="val 8571"/>
            </a:avLst>
          </a:prstGeom>
          <a:solidFill>
            <a:srgbClr val="F8FAFC"/>
          </a:solidFill>
          <a:ln w="12700" cap="flat" cmpd="sng">
            <a:solidFill>
              <a:srgbClr val="E2E8F0"/>
            </a:solidFill>
            <a:prstDash val="solid"/>
            <a:round/>
            <a:headEnd type="none" w="sm" len="sm"/>
            <a:tailEnd type="none" w="sm" len="sm"/>
          </a:ln>
        </p:spPr>
        <p:txBody>
          <a:bodyPr spcFirstLastPara="1" wrap="square" lIns="254000" tIns="101600" rIns="101600" bIns="101600" anchor="ctr" anchorCtr="0">
            <a:noAutofit/>
          </a:bodyPr>
          <a:lstStyle/>
          <a:p>
            <a:pPr marL="0" marR="0" lvl="0" indent="0" algn="l"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Weak email auth</a:t>
            </a:r>
            <a:endParaRPr sz="1100" b="0" i="0" u="none" strike="noStrike" cap="none">
              <a:solidFill>
                <a:srgbClr val="000000"/>
              </a:solidFill>
              <a:latin typeface="Arial"/>
              <a:ea typeface="Arial"/>
              <a:cs typeface="Arial"/>
              <a:sym typeface="Arial"/>
            </a:endParaRPr>
          </a:p>
        </p:txBody>
      </p:sp>
      <p:sp>
        <p:nvSpPr>
          <p:cNvPr id="139" name="Google Shape;139;p17"/>
          <p:cNvSpPr/>
          <p:nvPr/>
        </p:nvSpPr>
        <p:spPr>
          <a:xfrm>
            <a:off x="6096000" y="3556000"/>
            <a:ext cx="76200" cy="889000"/>
          </a:xfrm>
          <a:prstGeom prst="roundRect">
            <a:avLst>
              <a:gd name="adj" fmla="val 0"/>
            </a:avLst>
          </a:prstGeom>
          <a:solidFill>
            <a:srgbClr val="F59E0B"/>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 name="Google Shape;140;p17"/>
          <p:cNvSpPr/>
          <p:nvPr/>
        </p:nvSpPr>
        <p:spPr>
          <a:xfrm>
            <a:off x="10668000" y="3556000"/>
            <a:ext cx="4318000" cy="889000"/>
          </a:xfrm>
          <a:prstGeom prst="roundRect">
            <a:avLst>
              <a:gd name="adj" fmla="val 8571"/>
            </a:avLst>
          </a:prstGeom>
          <a:solidFill>
            <a:srgbClr val="F8FAFC"/>
          </a:solidFill>
          <a:ln w="12700" cap="flat" cmpd="sng">
            <a:solidFill>
              <a:srgbClr val="E2E8F0"/>
            </a:solidFill>
            <a:prstDash val="solid"/>
            <a:round/>
            <a:headEnd type="none" w="sm" len="sm"/>
            <a:tailEnd type="none" w="sm" len="sm"/>
          </a:ln>
        </p:spPr>
        <p:txBody>
          <a:bodyPr spcFirstLastPara="1" wrap="square" lIns="254000" tIns="101600" rIns="101600" bIns="101600" anchor="ctr" anchorCtr="0">
            <a:noAutofit/>
          </a:bodyPr>
          <a:lstStyle/>
          <a:p>
            <a:pPr marL="0" marR="0" lvl="0" indent="0" algn="l"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Missing web controls</a:t>
            </a:r>
            <a:endParaRPr sz="1100" b="0" i="0" u="none" strike="noStrike" cap="none">
              <a:solidFill>
                <a:srgbClr val="000000"/>
              </a:solidFill>
              <a:latin typeface="Arial"/>
              <a:ea typeface="Arial"/>
              <a:cs typeface="Arial"/>
              <a:sym typeface="Arial"/>
            </a:endParaRPr>
          </a:p>
        </p:txBody>
      </p:sp>
      <p:sp>
        <p:nvSpPr>
          <p:cNvPr id="141" name="Google Shape;141;p17"/>
          <p:cNvSpPr/>
          <p:nvPr/>
        </p:nvSpPr>
        <p:spPr>
          <a:xfrm>
            <a:off x="10668000" y="3556000"/>
            <a:ext cx="76200" cy="889000"/>
          </a:xfrm>
          <a:prstGeom prst="roundRect">
            <a:avLst>
              <a:gd name="adj" fmla="val 0"/>
            </a:avLst>
          </a:prstGeom>
          <a:solidFill>
            <a:srgbClr val="F59E0B"/>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 name="Google Shape;142;p17"/>
          <p:cNvSpPr/>
          <p:nvPr/>
        </p:nvSpPr>
        <p:spPr>
          <a:xfrm>
            <a:off x="6096000" y="4699000"/>
            <a:ext cx="4318000" cy="889000"/>
          </a:xfrm>
          <a:prstGeom prst="roundRect">
            <a:avLst>
              <a:gd name="adj" fmla="val 8571"/>
            </a:avLst>
          </a:prstGeom>
          <a:solidFill>
            <a:srgbClr val="F8FAFC"/>
          </a:solidFill>
          <a:ln w="12700" cap="flat" cmpd="sng">
            <a:solidFill>
              <a:srgbClr val="E2E8F0"/>
            </a:solidFill>
            <a:prstDash val="solid"/>
            <a:round/>
            <a:headEnd type="none" w="sm" len="sm"/>
            <a:tailEnd type="none" w="sm" len="sm"/>
          </a:ln>
        </p:spPr>
        <p:txBody>
          <a:bodyPr spcFirstLastPara="1" wrap="square" lIns="254000" tIns="101600" rIns="101600" bIns="101600" anchor="ctr" anchorCtr="0">
            <a:noAutofit/>
          </a:bodyPr>
          <a:lstStyle/>
          <a:p>
            <a:pPr marL="0" marR="0" lvl="0" indent="0" algn="l"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Expired certificates</a:t>
            </a:r>
            <a:endParaRPr sz="1100" b="0" i="0" u="none" strike="noStrike" cap="none">
              <a:solidFill>
                <a:srgbClr val="000000"/>
              </a:solidFill>
              <a:latin typeface="Arial"/>
              <a:ea typeface="Arial"/>
              <a:cs typeface="Arial"/>
              <a:sym typeface="Arial"/>
            </a:endParaRPr>
          </a:p>
        </p:txBody>
      </p:sp>
      <p:sp>
        <p:nvSpPr>
          <p:cNvPr id="143" name="Google Shape;143;p17"/>
          <p:cNvSpPr/>
          <p:nvPr/>
        </p:nvSpPr>
        <p:spPr>
          <a:xfrm>
            <a:off x="6096000" y="4699000"/>
            <a:ext cx="76200" cy="8890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 name="Google Shape;144;p17"/>
          <p:cNvSpPr/>
          <p:nvPr/>
        </p:nvSpPr>
        <p:spPr>
          <a:xfrm>
            <a:off x="10668000" y="4699000"/>
            <a:ext cx="4318000" cy="889000"/>
          </a:xfrm>
          <a:prstGeom prst="roundRect">
            <a:avLst>
              <a:gd name="adj" fmla="val 8571"/>
            </a:avLst>
          </a:prstGeom>
          <a:solidFill>
            <a:srgbClr val="F8FAFC"/>
          </a:solidFill>
          <a:ln w="12700" cap="flat" cmpd="sng">
            <a:solidFill>
              <a:srgbClr val="E2E8F0"/>
            </a:solidFill>
            <a:prstDash val="solid"/>
            <a:round/>
            <a:headEnd type="none" w="sm" len="sm"/>
            <a:tailEnd type="none" w="sm" len="sm"/>
          </a:ln>
        </p:spPr>
        <p:txBody>
          <a:bodyPr spcFirstLastPara="1" wrap="square" lIns="254000" tIns="101600" rIns="101600" bIns="101600" anchor="ctr" anchorCtr="0">
            <a:noAutofit/>
          </a:bodyPr>
          <a:lstStyle/>
          <a:p>
            <a:pPr marL="0" marR="0" lvl="0" indent="0" algn="l"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Forgotten assets</a:t>
            </a:r>
            <a:endParaRPr sz="1100" b="0" i="0" u="none" strike="noStrike" cap="none">
              <a:solidFill>
                <a:srgbClr val="000000"/>
              </a:solidFill>
              <a:latin typeface="Arial"/>
              <a:ea typeface="Arial"/>
              <a:cs typeface="Arial"/>
              <a:sym typeface="Arial"/>
            </a:endParaRPr>
          </a:p>
        </p:txBody>
      </p:sp>
      <p:sp>
        <p:nvSpPr>
          <p:cNvPr id="145" name="Google Shape;145;p17"/>
          <p:cNvSpPr/>
          <p:nvPr/>
        </p:nvSpPr>
        <p:spPr>
          <a:xfrm>
            <a:off x="10668000" y="4699000"/>
            <a:ext cx="76200" cy="8890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 name="Google Shape;146;p17"/>
          <p:cNvSpPr/>
          <p:nvPr/>
        </p:nvSpPr>
        <p:spPr>
          <a:xfrm>
            <a:off x="6096000" y="6096000"/>
            <a:ext cx="8890000" cy="1778000"/>
          </a:xfrm>
          <a:prstGeom prst="roundRect">
            <a:avLst>
              <a:gd name="adj" fmla="val 4285"/>
            </a:avLst>
          </a:prstGeom>
          <a:solidFill>
            <a:srgbClr val="1E3A8A">
              <a:alpha val="5098"/>
            </a:srgbClr>
          </a:solidFill>
          <a:ln w="12700" cap="flat" cmpd="sng">
            <a:solidFill>
              <a:srgbClr val="1E3A8A">
                <a:alpha val="20000"/>
              </a:srgbClr>
            </a:solidFill>
            <a:prstDash val="solid"/>
            <a:round/>
            <a:headEnd type="none" w="sm" len="sm"/>
            <a:tailEnd type="none" w="sm" len="sm"/>
          </a:ln>
        </p:spPr>
        <p:txBody>
          <a:bodyPr spcFirstLastPara="1" wrap="square" lIns="381000" tIns="101600" rIns="381000" bIns="101600" anchor="ctr" anchorCtr="0">
            <a:noAutofit/>
          </a:bodyPr>
          <a:lstStyle/>
          <a:p>
            <a:pPr marL="0" marR="0" lvl="0" indent="0" algn="l" rtl="0">
              <a:lnSpc>
                <a:spcPct val="90000"/>
              </a:lnSpc>
              <a:spcBef>
                <a:spcPts val="0"/>
              </a:spcBef>
              <a:spcAft>
                <a:spcPts val="0"/>
              </a:spcAft>
              <a:buNone/>
            </a:pPr>
            <a:r>
              <a:rPr lang="en-US" sz="2200" b="0" i="0" u="none" strike="noStrike" cap="none">
                <a:solidFill>
                  <a:srgbClr val="0F172A"/>
                </a:solidFill>
                <a:latin typeface="Arial"/>
                <a:ea typeface="Arial"/>
                <a:cs typeface="Arial"/>
                <a:sym typeface="Arial"/>
              </a:rPr>
              <a:t>These findings may not always be critical by themselves, but together they show how exposed an organization appears to an attacker. PROBE helps organizations see what an attacker can see without performing intrusive testing.</a:t>
            </a:r>
            <a:endParaRPr sz="1100" b="0" i="0" u="none" strike="noStrike" cap="none">
              <a:solidFill>
                <a:srgbClr val="000000"/>
              </a:solidFill>
              <a:latin typeface="Arial"/>
              <a:ea typeface="Arial"/>
              <a:cs typeface="Arial"/>
              <a:sym typeface="Arial"/>
            </a:endParaRPr>
          </a:p>
        </p:txBody>
      </p:sp>
      <p:sp>
        <p:nvSpPr>
          <p:cNvPr id="147" name="Google Shape;147;p17"/>
          <p:cNvSpPr/>
          <p:nvPr/>
        </p:nvSpPr>
        <p:spPr>
          <a:xfrm>
            <a:off x="6096000" y="6096000"/>
            <a:ext cx="8890000" cy="762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
        <p:cNvGrpSpPr/>
        <p:nvPr/>
      </p:nvGrpSpPr>
      <p:grpSpPr>
        <a:xfrm>
          <a:off x="0" y="0"/>
          <a:ext cx="0" cy="0"/>
          <a:chOff x="0" y="0"/>
          <a:chExt cx="0" cy="0"/>
        </a:xfrm>
      </p:grpSpPr>
      <p:sp>
        <p:nvSpPr>
          <p:cNvPr id="156" name="Google Shape;156;p18"/>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Built for Security Leadership</a:t>
            </a:r>
            <a:endParaRPr sz="1100" b="0" i="0" u="none" strike="noStrike" cap="none">
              <a:solidFill>
                <a:srgbClr val="000000"/>
              </a:solidFill>
              <a:latin typeface="Arial"/>
              <a:ea typeface="Arial"/>
              <a:cs typeface="Arial"/>
              <a:sym typeface="Arial"/>
            </a:endParaRPr>
          </a:p>
        </p:txBody>
      </p:sp>
      <p:sp>
        <p:nvSpPr>
          <p:cNvPr id="157" name="Google Shape;157;p18"/>
          <p:cNvSpPr/>
          <p:nvPr/>
        </p:nvSpPr>
        <p:spPr>
          <a:xfrm>
            <a:off x="1016000" y="1778000"/>
            <a:ext cx="6350000" cy="762000"/>
          </a:xfrm>
          <a:prstGeom prst="roundRect">
            <a:avLst>
              <a:gd name="adj" fmla="val 1000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FFFFFF"/>
                </a:solidFill>
                <a:latin typeface="Arial"/>
                <a:ea typeface="Arial"/>
                <a:cs typeface="Arial"/>
                <a:sym typeface="Arial"/>
              </a:rPr>
              <a:t>Primary Audience</a:t>
            </a:r>
            <a:endParaRPr sz="1100" b="0" i="0" u="none" strike="noStrike" cap="none">
              <a:solidFill>
                <a:srgbClr val="000000"/>
              </a:solidFill>
              <a:latin typeface="Arial"/>
              <a:ea typeface="Arial"/>
              <a:cs typeface="Arial"/>
              <a:sym typeface="Arial"/>
            </a:endParaRPr>
          </a:p>
        </p:txBody>
      </p:sp>
      <p:sp>
        <p:nvSpPr>
          <p:cNvPr id="158" name="Google Shape;158;p18"/>
          <p:cNvSpPr/>
          <p:nvPr/>
        </p:nvSpPr>
        <p:spPr>
          <a:xfrm>
            <a:off x="8890000" y="1778000"/>
            <a:ext cx="6350000" cy="762000"/>
          </a:xfrm>
          <a:prstGeom prst="roundRect">
            <a:avLst>
              <a:gd name="adj" fmla="val 10000"/>
            </a:avLst>
          </a:prstGeom>
          <a:solidFill>
            <a:srgbClr val="475569"/>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FFFFFF"/>
                </a:solidFill>
                <a:latin typeface="Arial"/>
                <a:ea typeface="Arial"/>
                <a:cs typeface="Arial"/>
                <a:sym typeface="Arial"/>
              </a:rPr>
              <a:t>Secondary Audience</a:t>
            </a:r>
            <a:endParaRPr sz="1100" b="0" i="0" u="none" strike="noStrike" cap="none">
              <a:solidFill>
                <a:srgbClr val="000000"/>
              </a:solidFill>
              <a:latin typeface="Arial"/>
              <a:ea typeface="Arial"/>
              <a:cs typeface="Arial"/>
              <a:sym typeface="Arial"/>
            </a:endParaRPr>
          </a:p>
        </p:txBody>
      </p:sp>
      <p:sp>
        <p:nvSpPr>
          <p:cNvPr id="159" name="Google Shape;159;p18"/>
          <p:cNvSpPr/>
          <p:nvPr/>
        </p:nvSpPr>
        <p:spPr>
          <a:xfrm>
            <a:off x="7747000" y="1841500"/>
            <a:ext cx="635000" cy="635000"/>
          </a:xfrm>
          <a:prstGeom prst="ellipse">
            <a:avLst/>
          </a:prstGeom>
          <a:solidFill>
            <a:srgbClr val="F8FAFC"/>
          </a:solidFill>
          <a:ln w="12700" cap="flat" cmpd="sng">
            <a:solidFill>
              <a:srgbClr val="E2E8F0"/>
            </a:solidFill>
            <a:prstDash val="solid"/>
            <a:round/>
            <a:headEnd type="none" w="sm" len="sm"/>
            <a:tailEnd type="none" w="sm" len="sm"/>
          </a:ln>
        </p:spPr>
        <p:txBody>
          <a:bodyPr spcFirstLastPara="1" wrap="square" lIns="101600" tIns="101600" rIns="101600" bIns="101600" anchor="ctr" anchorCtr="0">
            <a:noAutofit/>
          </a:bodyPr>
          <a:lstStyle/>
          <a:p>
            <a:pPr marL="0" marR="0" lvl="0" indent="0" algn="ctr" rtl="0">
              <a:lnSpc>
                <a:spcPct val="80000"/>
              </a:lnSpc>
              <a:spcBef>
                <a:spcPts val="0"/>
              </a:spcBef>
              <a:spcAft>
                <a:spcPts val="0"/>
              </a:spcAft>
              <a:buNone/>
            </a:pPr>
            <a:r>
              <a:rPr lang="en-US" sz="1800" b="1" i="0" u="none" strike="noStrike" cap="none">
                <a:solidFill>
                  <a:srgbClr val="94A3B8"/>
                </a:solidFill>
                <a:latin typeface="Arial"/>
                <a:ea typeface="Arial"/>
                <a:cs typeface="Arial"/>
                <a:sym typeface="Arial"/>
              </a:rPr>
              <a:t>VS</a:t>
            </a:r>
            <a:endParaRPr sz="1100" b="0" i="0" u="none" strike="noStrike" cap="none">
              <a:solidFill>
                <a:srgbClr val="000000"/>
              </a:solidFill>
              <a:latin typeface="Arial"/>
              <a:ea typeface="Arial"/>
              <a:cs typeface="Arial"/>
              <a:sym typeface="Arial"/>
            </a:endParaRPr>
          </a:p>
        </p:txBody>
      </p:sp>
      <p:sp>
        <p:nvSpPr>
          <p:cNvPr id="160" name="Google Shape;160;p18"/>
          <p:cNvSpPr/>
          <p:nvPr/>
        </p:nvSpPr>
        <p:spPr>
          <a:xfrm>
            <a:off x="1016000" y="2794000"/>
            <a:ext cx="6350000" cy="762000"/>
          </a:xfrm>
          <a:prstGeom prst="roundRect">
            <a:avLst>
              <a:gd name="adj" fmla="val 6666"/>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F172A"/>
                </a:solidFill>
                <a:latin typeface="Arial"/>
                <a:ea typeface="Arial"/>
                <a:cs typeface="Arial"/>
                <a:sym typeface="Arial"/>
              </a:rPr>
              <a:t>CIOs</a:t>
            </a:r>
            <a:endParaRPr sz="1100" b="0" i="0" u="none" strike="noStrike" cap="none">
              <a:solidFill>
                <a:srgbClr val="000000"/>
              </a:solidFill>
              <a:latin typeface="Arial"/>
              <a:ea typeface="Arial"/>
              <a:cs typeface="Arial"/>
              <a:sym typeface="Arial"/>
            </a:endParaRPr>
          </a:p>
        </p:txBody>
      </p:sp>
      <p:sp>
        <p:nvSpPr>
          <p:cNvPr id="161" name="Google Shape;161;p18"/>
          <p:cNvSpPr/>
          <p:nvPr/>
        </p:nvSpPr>
        <p:spPr>
          <a:xfrm>
            <a:off x="8890000" y="2794000"/>
            <a:ext cx="6350000" cy="762000"/>
          </a:xfrm>
          <a:prstGeom prst="roundRect">
            <a:avLst>
              <a:gd name="adj" fmla="val 6666"/>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F172A"/>
                </a:solidFill>
                <a:latin typeface="Arial"/>
                <a:ea typeface="Arial"/>
                <a:cs typeface="Arial"/>
                <a:sym typeface="Arial"/>
              </a:rPr>
              <a:t>Security Analysts</a:t>
            </a:r>
            <a:endParaRPr sz="1100" b="0" i="0" u="none" strike="noStrike" cap="none">
              <a:solidFill>
                <a:srgbClr val="000000"/>
              </a:solidFill>
              <a:latin typeface="Arial"/>
              <a:ea typeface="Arial"/>
              <a:cs typeface="Arial"/>
              <a:sym typeface="Arial"/>
            </a:endParaRPr>
          </a:p>
        </p:txBody>
      </p:sp>
      <p:cxnSp>
        <p:nvCxnSpPr>
          <p:cNvPr id="162" name="Google Shape;162;p18"/>
          <p:cNvCxnSpPr/>
          <p:nvPr/>
        </p:nvCxnSpPr>
        <p:spPr>
          <a:xfrm rot="-28647">
            <a:off x="7365391" y="3168650"/>
            <a:ext cx="1524000" cy="12700"/>
          </a:xfrm>
          <a:prstGeom prst="straightConnector1">
            <a:avLst/>
          </a:prstGeom>
          <a:solidFill>
            <a:srgbClr val="DEE0E3"/>
          </a:solidFill>
          <a:ln w="12700" cap="flat" cmpd="sng">
            <a:solidFill>
              <a:srgbClr val="E2E8F0"/>
            </a:solidFill>
            <a:prstDash val="dash"/>
            <a:round/>
            <a:headEnd type="none" w="sm" len="sm"/>
            <a:tailEnd type="none" w="sm" len="sm"/>
          </a:ln>
        </p:spPr>
      </p:cxnSp>
      <p:sp>
        <p:nvSpPr>
          <p:cNvPr id="163" name="Google Shape;163;p18"/>
          <p:cNvSpPr/>
          <p:nvPr/>
        </p:nvSpPr>
        <p:spPr>
          <a:xfrm>
            <a:off x="1016000" y="3683000"/>
            <a:ext cx="6350000" cy="762000"/>
          </a:xfrm>
          <a:prstGeom prst="roundRect">
            <a:avLst>
              <a:gd name="adj" fmla="val 6666"/>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F172A"/>
                </a:solidFill>
                <a:latin typeface="Arial"/>
                <a:ea typeface="Arial"/>
                <a:cs typeface="Arial"/>
                <a:sym typeface="Arial"/>
              </a:rPr>
              <a:t>CISOs</a:t>
            </a:r>
            <a:endParaRPr sz="1100" b="0" i="0" u="none" strike="noStrike" cap="none">
              <a:solidFill>
                <a:srgbClr val="000000"/>
              </a:solidFill>
              <a:latin typeface="Arial"/>
              <a:ea typeface="Arial"/>
              <a:cs typeface="Arial"/>
              <a:sym typeface="Arial"/>
            </a:endParaRPr>
          </a:p>
        </p:txBody>
      </p:sp>
      <p:sp>
        <p:nvSpPr>
          <p:cNvPr id="164" name="Google Shape;164;p18"/>
          <p:cNvSpPr/>
          <p:nvPr/>
        </p:nvSpPr>
        <p:spPr>
          <a:xfrm>
            <a:off x="8890000" y="3683000"/>
            <a:ext cx="6350000" cy="762000"/>
          </a:xfrm>
          <a:prstGeom prst="roundRect">
            <a:avLst>
              <a:gd name="adj" fmla="val 6666"/>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F172A"/>
                </a:solidFill>
                <a:latin typeface="Arial"/>
                <a:ea typeface="Arial"/>
                <a:cs typeface="Arial"/>
                <a:sym typeface="Arial"/>
              </a:rPr>
              <a:t>IT Operations Teams</a:t>
            </a:r>
            <a:endParaRPr sz="1100" b="0" i="0" u="none" strike="noStrike" cap="none">
              <a:solidFill>
                <a:srgbClr val="000000"/>
              </a:solidFill>
              <a:latin typeface="Arial"/>
              <a:ea typeface="Arial"/>
              <a:cs typeface="Arial"/>
              <a:sym typeface="Arial"/>
            </a:endParaRPr>
          </a:p>
        </p:txBody>
      </p:sp>
      <p:cxnSp>
        <p:nvCxnSpPr>
          <p:cNvPr id="165" name="Google Shape;165;p18"/>
          <p:cNvCxnSpPr/>
          <p:nvPr/>
        </p:nvCxnSpPr>
        <p:spPr>
          <a:xfrm rot="-28647">
            <a:off x="7365391" y="4057650"/>
            <a:ext cx="1524000" cy="12700"/>
          </a:xfrm>
          <a:prstGeom prst="straightConnector1">
            <a:avLst/>
          </a:prstGeom>
          <a:solidFill>
            <a:srgbClr val="DEE0E3"/>
          </a:solidFill>
          <a:ln w="12700" cap="flat" cmpd="sng">
            <a:solidFill>
              <a:srgbClr val="E2E8F0"/>
            </a:solidFill>
            <a:prstDash val="dash"/>
            <a:round/>
            <a:headEnd type="none" w="sm" len="sm"/>
            <a:tailEnd type="none" w="sm" len="sm"/>
          </a:ln>
        </p:spPr>
      </p:cxnSp>
      <p:sp>
        <p:nvSpPr>
          <p:cNvPr id="166" name="Google Shape;166;p18"/>
          <p:cNvSpPr/>
          <p:nvPr/>
        </p:nvSpPr>
        <p:spPr>
          <a:xfrm>
            <a:off x="1016000" y="4572000"/>
            <a:ext cx="6350000" cy="762000"/>
          </a:xfrm>
          <a:prstGeom prst="roundRect">
            <a:avLst>
              <a:gd name="adj" fmla="val 6666"/>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F172A"/>
                </a:solidFill>
                <a:latin typeface="Arial"/>
                <a:ea typeface="Arial"/>
                <a:cs typeface="Arial"/>
                <a:sym typeface="Arial"/>
              </a:rPr>
              <a:t>Risk Leaders</a:t>
            </a:r>
            <a:endParaRPr sz="1100" b="0" i="0" u="none" strike="noStrike" cap="none">
              <a:solidFill>
                <a:srgbClr val="000000"/>
              </a:solidFill>
              <a:latin typeface="Arial"/>
              <a:ea typeface="Arial"/>
              <a:cs typeface="Arial"/>
              <a:sym typeface="Arial"/>
            </a:endParaRPr>
          </a:p>
        </p:txBody>
      </p:sp>
      <p:sp>
        <p:nvSpPr>
          <p:cNvPr id="167" name="Google Shape;167;p18"/>
          <p:cNvSpPr/>
          <p:nvPr/>
        </p:nvSpPr>
        <p:spPr>
          <a:xfrm>
            <a:off x="8890000" y="4572000"/>
            <a:ext cx="6350000" cy="762000"/>
          </a:xfrm>
          <a:prstGeom prst="roundRect">
            <a:avLst>
              <a:gd name="adj" fmla="val 6666"/>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F172A"/>
                </a:solidFill>
                <a:latin typeface="Arial"/>
                <a:ea typeface="Arial"/>
                <a:cs typeface="Arial"/>
                <a:sym typeface="Arial"/>
              </a:rPr>
              <a:t>Compliance Teams</a:t>
            </a:r>
            <a:endParaRPr sz="1100" b="0" i="0" u="none" strike="noStrike" cap="none">
              <a:solidFill>
                <a:srgbClr val="000000"/>
              </a:solidFill>
              <a:latin typeface="Arial"/>
              <a:ea typeface="Arial"/>
              <a:cs typeface="Arial"/>
              <a:sym typeface="Arial"/>
            </a:endParaRPr>
          </a:p>
        </p:txBody>
      </p:sp>
      <p:cxnSp>
        <p:nvCxnSpPr>
          <p:cNvPr id="168" name="Google Shape;168;p18"/>
          <p:cNvCxnSpPr/>
          <p:nvPr/>
        </p:nvCxnSpPr>
        <p:spPr>
          <a:xfrm rot="-28647">
            <a:off x="7365391" y="4946650"/>
            <a:ext cx="1524000" cy="12700"/>
          </a:xfrm>
          <a:prstGeom prst="straightConnector1">
            <a:avLst/>
          </a:prstGeom>
          <a:solidFill>
            <a:srgbClr val="DEE0E3"/>
          </a:solidFill>
          <a:ln w="12700" cap="flat" cmpd="sng">
            <a:solidFill>
              <a:srgbClr val="E2E8F0"/>
            </a:solidFill>
            <a:prstDash val="dash"/>
            <a:round/>
            <a:headEnd type="none" w="sm" len="sm"/>
            <a:tailEnd type="none" w="sm" len="sm"/>
          </a:ln>
        </p:spPr>
      </p:cxnSp>
      <p:sp>
        <p:nvSpPr>
          <p:cNvPr id="169" name="Google Shape;169;p18"/>
          <p:cNvSpPr/>
          <p:nvPr/>
        </p:nvSpPr>
        <p:spPr>
          <a:xfrm>
            <a:off x="1016000" y="5461000"/>
            <a:ext cx="6350000" cy="762000"/>
          </a:xfrm>
          <a:prstGeom prst="roundRect">
            <a:avLst>
              <a:gd name="adj" fmla="val 6666"/>
            </a:avLst>
          </a:prstGeom>
          <a:solidFill>
            <a:srgbClr val="F8FAFC"/>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F172A"/>
                </a:solidFill>
                <a:latin typeface="Arial"/>
                <a:ea typeface="Arial"/>
                <a:cs typeface="Arial"/>
                <a:sym typeface="Arial"/>
              </a:rPr>
              <a:t>Board-facing Security Teams</a:t>
            </a:r>
            <a:endParaRPr sz="1100" b="0" i="0" u="none" strike="noStrike" cap="none">
              <a:solidFill>
                <a:srgbClr val="000000"/>
              </a:solidFill>
              <a:latin typeface="Arial"/>
              <a:ea typeface="Arial"/>
              <a:cs typeface="Arial"/>
              <a:sym typeface="Arial"/>
            </a:endParaRPr>
          </a:p>
        </p:txBody>
      </p:sp>
      <p:sp>
        <p:nvSpPr>
          <p:cNvPr id="170" name="Google Shape;170;p18"/>
          <p:cNvSpPr/>
          <p:nvPr/>
        </p:nvSpPr>
        <p:spPr>
          <a:xfrm>
            <a:off x="1016000" y="6731000"/>
            <a:ext cx="14224000" cy="1524000"/>
          </a:xfrm>
          <a:prstGeom prst="roundRect">
            <a:avLst>
              <a:gd name="adj" fmla="val 6666"/>
            </a:avLst>
          </a:prstGeom>
          <a:solidFill>
            <a:srgbClr val="FFFFFF"/>
          </a:solidFill>
          <a:ln w="25400" cap="flat" cmpd="sng">
            <a:solidFill>
              <a:srgbClr val="3B82F6"/>
            </a:solidFill>
            <a:prstDash val="solid"/>
            <a:round/>
            <a:headEnd type="none" w="sm" len="sm"/>
            <a:tailEnd type="none" w="sm" len="sm"/>
          </a:ln>
          <a:effectLst>
            <a:outerShdw blurRad="190500" dist="50800" dir="2700000" algn="tl" rotWithShape="0">
              <a:srgbClr val="3B82F6">
                <a:alpha val="14901"/>
              </a:srgbClr>
            </a:outerShdw>
          </a:effectLst>
        </p:spPr>
        <p:txBody>
          <a:bodyPr spcFirstLastPara="1" wrap="square" lIns="101600" tIns="101600" rIns="101600" bIns="101600" anchor="ctr" anchorCtr="0">
            <a:noAutofit/>
          </a:bodyPr>
          <a:lstStyle/>
          <a:p>
            <a:pPr marL="0" marR="0" lvl="0" indent="0" algn="ctr" rtl="0">
              <a:lnSpc>
                <a:spcPct val="80000"/>
              </a:lnSpc>
              <a:spcBef>
                <a:spcPts val="0"/>
              </a:spcBef>
              <a:spcAft>
                <a:spcPts val="0"/>
              </a:spcAft>
              <a:buNone/>
            </a:pPr>
            <a:r>
              <a:rPr lang="en-US" sz="1665" b="0" i="0" u="none" strike="noStrike" cap="none">
                <a:solidFill>
                  <a:srgbClr val="475569"/>
                </a:solidFill>
                <a:latin typeface="Arial"/>
                <a:ea typeface="Arial"/>
                <a:cs typeface="Arial"/>
                <a:sym typeface="Arial"/>
              </a:rPr>
              <a:t>The tool is built for people who need answers like:</a:t>
            </a:r>
            <a:endParaRPr sz="1018" b="0" i="0" u="none" strike="noStrike" cap="none">
              <a:solidFill>
                <a:srgbClr val="000000"/>
              </a:solidFill>
              <a:latin typeface="Arial"/>
              <a:ea typeface="Arial"/>
              <a:cs typeface="Arial"/>
              <a:sym typeface="Arial"/>
            </a:endParaRPr>
          </a:p>
          <a:p>
            <a:pPr marL="0" marR="0" lvl="0" indent="0" algn="ctr" rtl="0">
              <a:lnSpc>
                <a:spcPct val="80000"/>
              </a:lnSpc>
              <a:spcBef>
                <a:spcPts val="800"/>
              </a:spcBef>
              <a:spcAft>
                <a:spcPts val="0"/>
              </a:spcAft>
              <a:buNone/>
            </a:pPr>
            <a:r>
              <a:rPr lang="en-US" sz="2590" b="1" i="0" u="none" strike="noStrike" cap="none">
                <a:solidFill>
                  <a:srgbClr val="0F172A"/>
                </a:solidFill>
                <a:latin typeface="Arial"/>
                <a:ea typeface="Arial"/>
                <a:cs typeface="Arial"/>
                <a:sym typeface="Arial"/>
              </a:rPr>
              <a:t>“What are our most visible risks from the internet, </a:t>
            </a:r>
            <a:endParaRPr/>
          </a:p>
          <a:p>
            <a:pPr marL="0" marR="0" lvl="0" indent="0" algn="ctr" rtl="0">
              <a:lnSpc>
                <a:spcPct val="80000"/>
              </a:lnSpc>
              <a:spcBef>
                <a:spcPts val="0"/>
              </a:spcBef>
              <a:spcAft>
                <a:spcPts val="0"/>
              </a:spcAft>
              <a:buNone/>
            </a:pPr>
            <a:r>
              <a:rPr lang="en-US" sz="2590" b="1" i="0" u="none" strike="noStrike" cap="none">
                <a:solidFill>
                  <a:srgbClr val="0F172A"/>
                </a:solidFill>
                <a:latin typeface="Arial"/>
                <a:ea typeface="Arial"/>
                <a:cs typeface="Arial"/>
                <a:sym typeface="Arial"/>
              </a:rPr>
              <a:t>and what should we fix first?”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8"/>
        <p:cNvGrpSpPr/>
        <p:nvPr/>
      </p:nvGrpSpPr>
      <p:grpSpPr>
        <a:xfrm>
          <a:off x="0" y="0"/>
          <a:ext cx="0" cy="0"/>
          <a:chOff x="0" y="0"/>
          <a:chExt cx="0" cy="0"/>
        </a:xfrm>
      </p:grpSpPr>
      <p:sp>
        <p:nvSpPr>
          <p:cNvPr id="179" name="Google Shape;179;p19"/>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Outside-In Reporting</a:t>
            </a:r>
            <a:endParaRPr sz="1100" b="0" i="0" u="none" strike="noStrike" cap="none">
              <a:solidFill>
                <a:srgbClr val="000000"/>
              </a:solidFill>
              <a:latin typeface="Arial"/>
              <a:ea typeface="Arial"/>
              <a:cs typeface="Arial"/>
              <a:sym typeface="Arial"/>
            </a:endParaRPr>
          </a:p>
        </p:txBody>
      </p:sp>
      <p:sp>
        <p:nvSpPr>
          <p:cNvPr id="180" name="Google Shape;180;p19"/>
          <p:cNvSpPr/>
          <p:nvPr/>
        </p:nvSpPr>
        <p:spPr>
          <a:xfrm>
            <a:off x="1016000" y="1524000"/>
            <a:ext cx="14224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r>
              <a:rPr lang="en-US" sz="2000" b="0" i="0" u="none" strike="noStrike" cap="none">
                <a:solidFill>
                  <a:srgbClr val="475569"/>
                </a:solidFill>
                <a:latin typeface="Arial"/>
                <a:ea typeface="Arial"/>
                <a:cs typeface="Arial"/>
                <a:sym typeface="Arial"/>
              </a:rPr>
              <a:t>PROBE for Executives helps organizations understand public internet exposure through safe, authorized checks.</a:t>
            </a:r>
            <a:endParaRPr sz="1100" b="0" i="0" u="none" strike="noStrike" cap="none">
              <a:solidFill>
                <a:srgbClr val="000000"/>
              </a:solidFill>
              <a:latin typeface="Arial"/>
              <a:ea typeface="Arial"/>
              <a:cs typeface="Arial"/>
              <a:sym typeface="Arial"/>
            </a:endParaRPr>
          </a:p>
        </p:txBody>
      </p:sp>
      <p:sp>
        <p:nvSpPr>
          <p:cNvPr id="181" name="Google Shape;181;p19"/>
          <p:cNvSpPr/>
          <p:nvPr/>
        </p:nvSpPr>
        <p:spPr>
          <a:xfrm>
            <a:off x="1016000" y="2540000"/>
            <a:ext cx="5080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r>
              <a:rPr lang="en-US" sz="2200" b="1" i="0" u="none" strike="noStrike" cap="none">
                <a:solidFill>
                  <a:srgbClr val="1E3A8A"/>
                </a:solidFill>
                <a:latin typeface="Arial"/>
                <a:ea typeface="Arial"/>
                <a:cs typeface="Arial"/>
                <a:sym typeface="Arial"/>
              </a:rPr>
              <a:t>What PROBE Identifies</a:t>
            </a:r>
            <a:endParaRPr sz="1100" b="0" i="0" u="none" strike="noStrike" cap="none">
              <a:solidFill>
                <a:srgbClr val="000000"/>
              </a:solidFill>
              <a:latin typeface="Arial"/>
              <a:ea typeface="Arial"/>
              <a:cs typeface="Arial"/>
              <a:sym typeface="Arial"/>
            </a:endParaRPr>
          </a:p>
        </p:txBody>
      </p:sp>
      <p:sp>
        <p:nvSpPr>
          <p:cNvPr id="182" name="Google Shape;182;p19"/>
          <p:cNvSpPr/>
          <p:nvPr/>
        </p:nvSpPr>
        <p:spPr>
          <a:xfrm>
            <a:off x="1016000" y="3302000"/>
            <a:ext cx="5715000" cy="4826000"/>
          </a:xfrm>
          <a:prstGeom prst="roundRect">
            <a:avLst>
              <a:gd name="adj" fmla="val 0"/>
            </a:avLst>
          </a:prstGeom>
          <a:solidFill>
            <a:srgbClr val="F8FAFC"/>
          </a:solidFill>
          <a:ln w="12700" cap="flat" cmpd="sng">
            <a:solidFill>
              <a:srgbClr val="E2E8F0"/>
            </a:solidFill>
            <a:prstDash val="solid"/>
            <a:round/>
            <a:headEnd type="none" w="sm" len="sm"/>
            <a:tailEnd type="none" w="sm" len="sm"/>
          </a:ln>
        </p:spPr>
        <p:txBody>
          <a:bodyPr spcFirstLastPara="1" wrap="square" lIns="381000" tIns="381000" rIns="254000" bIns="101600" anchor="t" anchorCtr="0">
            <a:noAutofit/>
          </a:bodyPr>
          <a:lstStyle/>
          <a:p>
            <a:pPr marL="0" marR="0" lvl="0" indent="0" algn="l"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 Domains and subdomains</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0"/>
              </a:spcAft>
              <a:buNone/>
            </a:pPr>
            <a:r>
              <a:rPr lang="en-US" sz="1800" b="1" i="0" u="none" strike="noStrike" cap="none">
                <a:solidFill>
                  <a:srgbClr val="0F172A"/>
                </a:solidFill>
                <a:latin typeface="Arial"/>
                <a:ea typeface="Arial"/>
                <a:cs typeface="Arial"/>
                <a:sym typeface="Arial"/>
              </a:rPr>
              <a:t>• Live web applications</a:t>
            </a:r>
            <a:endParaRPr/>
          </a:p>
          <a:p>
            <a:pPr marL="0" marR="0" lvl="0" indent="0" algn="l" rtl="0">
              <a:lnSpc>
                <a:spcPct val="100000"/>
              </a:lnSpc>
              <a:spcBef>
                <a:spcPts val="2000"/>
              </a:spcBef>
              <a:spcAft>
                <a:spcPts val="0"/>
              </a:spcAft>
              <a:buNone/>
            </a:pPr>
            <a:r>
              <a:rPr lang="en-US" sz="1800" b="1" i="0" u="none" strike="noStrike" cap="none">
                <a:solidFill>
                  <a:srgbClr val="0F172A"/>
                </a:solidFill>
                <a:latin typeface="Arial"/>
                <a:ea typeface="Arial"/>
                <a:cs typeface="Arial"/>
                <a:sym typeface="Arial"/>
              </a:rPr>
              <a:t>• Login or admin portals</a:t>
            </a:r>
            <a:endParaRPr/>
          </a:p>
          <a:p>
            <a:pPr marL="0" marR="0" lvl="0" indent="0" algn="l" rtl="0">
              <a:lnSpc>
                <a:spcPct val="100000"/>
              </a:lnSpc>
              <a:spcBef>
                <a:spcPts val="2000"/>
              </a:spcBef>
              <a:spcAft>
                <a:spcPts val="0"/>
              </a:spcAft>
              <a:buNone/>
            </a:pPr>
            <a:r>
              <a:rPr lang="en-US" sz="1800" b="1" i="0" u="none" strike="noStrike" cap="none">
                <a:solidFill>
                  <a:srgbClr val="0F172A"/>
                </a:solidFill>
                <a:latin typeface="Arial"/>
                <a:ea typeface="Arial"/>
                <a:cs typeface="Arial"/>
                <a:sym typeface="Arial"/>
              </a:rPr>
              <a:t>• TLS certificate issues</a:t>
            </a:r>
            <a:endParaRPr/>
          </a:p>
          <a:p>
            <a:pPr marL="0" marR="0" lvl="0" indent="0" algn="l" rtl="0">
              <a:lnSpc>
                <a:spcPct val="100000"/>
              </a:lnSpc>
              <a:spcBef>
                <a:spcPts val="2000"/>
              </a:spcBef>
              <a:spcAft>
                <a:spcPts val="0"/>
              </a:spcAft>
              <a:buNone/>
            </a:pPr>
            <a:r>
              <a:rPr lang="en-US" sz="1800" b="1" i="0" u="none" strike="noStrike" cap="none">
                <a:solidFill>
                  <a:srgbClr val="0F172A"/>
                </a:solidFill>
                <a:latin typeface="Arial"/>
                <a:ea typeface="Arial"/>
                <a:cs typeface="Arial"/>
                <a:sym typeface="Arial"/>
              </a:rPr>
              <a:t>• Missing web security headers</a:t>
            </a:r>
            <a:endParaRPr/>
          </a:p>
          <a:p>
            <a:pPr marL="0" marR="0" lvl="0" indent="0" algn="l" rtl="0">
              <a:lnSpc>
                <a:spcPct val="100000"/>
              </a:lnSpc>
              <a:spcBef>
                <a:spcPts val="2000"/>
              </a:spcBef>
              <a:spcAft>
                <a:spcPts val="0"/>
              </a:spcAft>
              <a:buNone/>
            </a:pPr>
            <a:r>
              <a:rPr lang="en-US" sz="1800" b="1" i="0" u="none" strike="noStrike" cap="none">
                <a:solidFill>
                  <a:srgbClr val="0F172A"/>
                </a:solidFill>
                <a:latin typeface="Arial"/>
                <a:ea typeface="Arial"/>
                <a:cs typeface="Arial"/>
                <a:sym typeface="Arial"/>
              </a:rPr>
              <a:t>• Weak SPF or DMARC email security</a:t>
            </a:r>
            <a:endParaRPr/>
          </a:p>
          <a:p>
            <a:pPr marL="0" marR="0" lvl="0" indent="0" algn="l" rtl="0">
              <a:lnSpc>
                <a:spcPct val="100000"/>
              </a:lnSpc>
              <a:spcBef>
                <a:spcPts val="2000"/>
              </a:spcBef>
              <a:spcAft>
                <a:spcPts val="0"/>
              </a:spcAft>
              <a:buNone/>
            </a:pPr>
            <a:r>
              <a:rPr lang="en-US" sz="1800" b="1" i="0" u="none" strike="noStrike" cap="none">
                <a:solidFill>
                  <a:srgbClr val="0F172A"/>
                </a:solidFill>
                <a:latin typeface="Arial"/>
                <a:ea typeface="Arial"/>
                <a:cs typeface="Arial"/>
                <a:sym typeface="Arial"/>
              </a:rPr>
              <a:t>• Potential shadow IT indicators</a:t>
            </a:r>
            <a:endParaRPr/>
          </a:p>
        </p:txBody>
      </p:sp>
      <p:sp>
        <p:nvSpPr>
          <p:cNvPr id="183" name="Google Shape;183;p19"/>
          <p:cNvSpPr/>
          <p:nvPr/>
        </p:nvSpPr>
        <p:spPr>
          <a:xfrm>
            <a:off x="1016000" y="3302000"/>
            <a:ext cx="5715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4" name="Google Shape;184;p19"/>
          <p:cNvSpPr/>
          <p:nvPr/>
        </p:nvSpPr>
        <p:spPr>
          <a:xfrm>
            <a:off x="7366000" y="2540000"/>
            <a:ext cx="5080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r>
              <a:rPr lang="en-US" sz="2200" b="1" i="0" u="none" strike="noStrike" cap="none">
                <a:solidFill>
                  <a:srgbClr val="1E3A8A"/>
                </a:solidFill>
                <a:latin typeface="Arial"/>
                <a:ea typeface="Arial"/>
                <a:cs typeface="Arial"/>
                <a:sym typeface="Arial"/>
              </a:rPr>
              <a:t>Why It Matters</a:t>
            </a:r>
            <a:endParaRPr sz="1100" b="0" i="0" u="none" strike="noStrike" cap="none">
              <a:solidFill>
                <a:srgbClr val="000000"/>
              </a:solidFill>
              <a:latin typeface="Arial"/>
              <a:ea typeface="Arial"/>
              <a:cs typeface="Arial"/>
              <a:sym typeface="Arial"/>
            </a:endParaRPr>
          </a:p>
        </p:txBody>
      </p:sp>
      <p:sp>
        <p:nvSpPr>
          <p:cNvPr id="185" name="Google Shape;185;p19"/>
          <p:cNvSpPr/>
          <p:nvPr/>
        </p:nvSpPr>
        <p:spPr>
          <a:xfrm>
            <a:off x="7366000" y="3302000"/>
            <a:ext cx="3683000" cy="2159000"/>
          </a:xfrm>
          <a:prstGeom prst="roundRect">
            <a:avLst>
              <a:gd name="adj" fmla="val 3529"/>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254000" tIns="101600" rIns="254000" bIns="1016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Reduces</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Blind Spots</a:t>
            </a:r>
            <a:endParaRPr/>
          </a:p>
        </p:txBody>
      </p:sp>
      <p:sp>
        <p:nvSpPr>
          <p:cNvPr id="186" name="Google Shape;186;p19"/>
          <p:cNvSpPr/>
          <p:nvPr/>
        </p:nvSpPr>
        <p:spPr>
          <a:xfrm>
            <a:off x="7366000" y="3302000"/>
            <a:ext cx="3683000" cy="50800"/>
          </a:xfrm>
          <a:prstGeom prst="roundRect">
            <a:avLst>
              <a:gd name="adj" fmla="val 0"/>
            </a:avLst>
          </a:prstGeom>
          <a:solidFill>
            <a:srgbClr val="22C55E"/>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7" name="Google Shape;187;p19"/>
          <p:cNvSpPr/>
          <p:nvPr/>
        </p:nvSpPr>
        <p:spPr>
          <a:xfrm>
            <a:off x="11430000" y="3302000"/>
            <a:ext cx="3683000" cy="2159000"/>
          </a:xfrm>
          <a:prstGeom prst="roundRect">
            <a:avLst>
              <a:gd name="adj" fmla="val 3529"/>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254000" tIns="101600" rIns="254000" bIns="1016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Improves Exec</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Communication</a:t>
            </a:r>
            <a:endParaRPr/>
          </a:p>
        </p:txBody>
      </p:sp>
      <p:sp>
        <p:nvSpPr>
          <p:cNvPr id="188" name="Google Shape;188;p19"/>
          <p:cNvSpPr/>
          <p:nvPr/>
        </p:nvSpPr>
        <p:spPr>
          <a:xfrm>
            <a:off x="11430000" y="3302000"/>
            <a:ext cx="3683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9" name="Google Shape;189;p19"/>
          <p:cNvSpPr/>
          <p:nvPr/>
        </p:nvSpPr>
        <p:spPr>
          <a:xfrm>
            <a:off x="7366000" y="5842000"/>
            <a:ext cx="3683000" cy="2159000"/>
          </a:xfrm>
          <a:prstGeom prst="roundRect">
            <a:avLst>
              <a:gd name="adj" fmla="val 3529"/>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254000" tIns="101600" rIns="254000" bIns="1016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Prioritizes</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Remediation</a:t>
            </a:r>
            <a:endParaRPr/>
          </a:p>
        </p:txBody>
      </p:sp>
      <p:sp>
        <p:nvSpPr>
          <p:cNvPr id="190" name="Google Shape;190;p19"/>
          <p:cNvSpPr/>
          <p:nvPr/>
        </p:nvSpPr>
        <p:spPr>
          <a:xfrm>
            <a:off x="7366000" y="5842000"/>
            <a:ext cx="3683000" cy="50800"/>
          </a:xfrm>
          <a:prstGeom prst="roundRect">
            <a:avLst>
              <a:gd name="adj" fmla="val 0"/>
            </a:avLst>
          </a:prstGeom>
          <a:solidFill>
            <a:srgbClr val="F59E0B"/>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1" name="Google Shape;191;p19"/>
          <p:cNvSpPr/>
          <p:nvPr/>
        </p:nvSpPr>
        <p:spPr>
          <a:xfrm>
            <a:off x="11430000" y="5842000"/>
            <a:ext cx="3683000" cy="2159000"/>
          </a:xfrm>
          <a:prstGeom prst="roundRect">
            <a:avLst>
              <a:gd name="adj" fmla="val 3529"/>
            </a:avLst>
          </a:prstGeom>
          <a:solidFill>
            <a:srgbClr val="FFFFFF"/>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254000" tIns="101600" rIns="254000" bIns="1016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Supports Better</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200" b="1" i="0" u="none" strike="noStrike" cap="none">
                <a:solidFill>
                  <a:srgbClr val="0F172A"/>
                </a:solidFill>
                <a:latin typeface="Arial"/>
                <a:ea typeface="Arial"/>
                <a:cs typeface="Arial"/>
                <a:sym typeface="Arial"/>
              </a:rPr>
              <a:t>Decisions</a:t>
            </a:r>
            <a:endParaRPr/>
          </a:p>
        </p:txBody>
      </p:sp>
      <p:sp>
        <p:nvSpPr>
          <p:cNvPr id="192" name="Google Shape;192;p19"/>
          <p:cNvSpPr/>
          <p:nvPr/>
        </p:nvSpPr>
        <p:spPr>
          <a:xfrm>
            <a:off x="11430000" y="5842000"/>
            <a:ext cx="3683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sp>
        <p:nvSpPr>
          <p:cNvPr id="201" name="Google Shape;201;p20"/>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Bridging the Gap</a:t>
            </a:r>
            <a:endParaRPr sz="1100" b="0" i="0" u="none" strike="noStrike" cap="none">
              <a:solidFill>
                <a:srgbClr val="000000"/>
              </a:solidFill>
              <a:latin typeface="Arial"/>
              <a:ea typeface="Arial"/>
              <a:cs typeface="Arial"/>
              <a:sym typeface="Arial"/>
            </a:endParaRPr>
          </a:p>
        </p:txBody>
      </p:sp>
      <p:sp>
        <p:nvSpPr>
          <p:cNvPr id="202" name="Google Shape;202;p20"/>
          <p:cNvSpPr/>
          <p:nvPr/>
        </p:nvSpPr>
        <p:spPr>
          <a:xfrm>
            <a:off x="1016000" y="1651000"/>
            <a:ext cx="7112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r>
              <a:rPr lang="en-US" sz="1550" b="0" i="0" u="none" strike="noStrike" cap="none">
                <a:solidFill>
                  <a:srgbClr val="475569"/>
                </a:solidFill>
                <a:latin typeface="Arial"/>
                <a:ea typeface="Arial"/>
                <a:cs typeface="Arial"/>
                <a:sym typeface="Arial"/>
              </a:rPr>
              <a:t>PROBE sits between technical security tools and executive decision-making.</a:t>
            </a:r>
            <a:endParaRPr sz="853" b="0" i="0" u="none" strike="noStrike" cap="none">
              <a:solidFill>
                <a:srgbClr val="000000"/>
              </a:solidFill>
              <a:latin typeface="Arial"/>
              <a:ea typeface="Arial"/>
              <a:cs typeface="Arial"/>
              <a:sym typeface="Arial"/>
            </a:endParaRPr>
          </a:p>
        </p:txBody>
      </p:sp>
      <p:sp>
        <p:nvSpPr>
          <p:cNvPr id="203" name="Google Shape;203;p20"/>
          <p:cNvSpPr/>
          <p:nvPr/>
        </p:nvSpPr>
        <p:spPr>
          <a:xfrm>
            <a:off x="1016000" y="2794000"/>
            <a:ext cx="7112000" cy="1016000"/>
          </a:xfrm>
          <a:prstGeom prst="roundRect">
            <a:avLst>
              <a:gd name="adj" fmla="val 7500"/>
            </a:avLst>
          </a:prstGeom>
          <a:solidFill>
            <a:srgbClr val="F8FAFC"/>
          </a:solidFill>
          <a:ln w="12700" cap="flat" cmpd="sng">
            <a:solidFill>
              <a:srgbClr val="E2E8F0"/>
            </a:solidFill>
            <a:prstDash val="solid"/>
            <a:round/>
            <a:headEnd type="none" w="sm" len="sm"/>
            <a:tailEnd type="none" w="sm" len="sm"/>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475569"/>
                </a:solidFill>
                <a:latin typeface="Arial"/>
                <a:ea typeface="Arial"/>
                <a:cs typeface="Arial"/>
                <a:sym typeface="Arial"/>
              </a:rPr>
              <a:t>Technical Findings</a:t>
            </a:r>
            <a:r>
              <a:rPr lang="en-US" sz="2000" b="1" i="0" u="none" strike="noStrike" cap="none">
                <a:solidFill>
                  <a:srgbClr val="3B82F6"/>
                </a:solidFill>
                <a:latin typeface="Arial"/>
                <a:ea typeface="Arial"/>
                <a:cs typeface="Arial"/>
                <a:sym typeface="Arial"/>
              </a:rPr>
              <a:t>  ➔  </a:t>
            </a:r>
            <a:r>
              <a:rPr lang="en-US" sz="2000" b="1" i="0" u="none" strike="noStrike" cap="none">
                <a:solidFill>
                  <a:srgbClr val="0F172A"/>
                </a:solidFill>
                <a:latin typeface="Arial"/>
                <a:ea typeface="Arial"/>
                <a:cs typeface="Arial"/>
                <a:sym typeface="Arial"/>
              </a:rPr>
              <a:t>Business Impact</a:t>
            </a:r>
            <a:endParaRPr sz="1100" b="0" i="0" u="none" strike="noStrike" cap="none">
              <a:solidFill>
                <a:srgbClr val="000000"/>
              </a:solidFill>
              <a:latin typeface="Arial"/>
              <a:ea typeface="Arial"/>
              <a:cs typeface="Arial"/>
              <a:sym typeface="Arial"/>
            </a:endParaRPr>
          </a:p>
        </p:txBody>
      </p:sp>
      <p:sp>
        <p:nvSpPr>
          <p:cNvPr id="204" name="Google Shape;204;p20"/>
          <p:cNvSpPr/>
          <p:nvPr/>
        </p:nvSpPr>
        <p:spPr>
          <a:xfrm>
            <a:off x="1016000" y="4191000"/>
            <a:ext cx="7112000" cy="1016000"/>
          </a:xfrm>
          <a:prstGeom prst="roundRect">
            <a:avLst>
              <a:gd name="adj" fmla="val 7500"/>
            </a:avLst>
          </a:prstGeom>
          <a:solidFill>
            <a:srgbClr val="F8FAFC"/>
          </a:solidFill>
          <a:ln w="12700" cap="flat" cmpd="sng">
            <a:solidFill>
              <a:srgbClr val="E2E8F0"/>
            </a:solidFill>
            <a:prstDash val="solid"/>
            <a:round/>
            <a:headEnd type="none" w="sm" len="sm"/>
            <a:tailEnd type="none" w="sm" len="sm"/>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475569"/>
                </a:solidFill>
                <a:latin typeface="Arial"/>
                <a:ea typeface="Arial"/>
                <a:cs typeface="Arial"/>
                <a:sym typeface="Arial"/>
              </a:rPr>
              <a:t>Raw Scan Data</a:t>
            </a:r>
            <a:r>
              <a:rPr lang="en-US" sz="2000" b="1" i="0" u="none" strike="noStrike" cap="none">
                <a:solidFill>
                  <a:srgbClr val="3B82F6"/>
                </a:solidFill>
                <a:latin typeface="Arial"/>
                <a:ea typeface="Arial"/>
                <a:cs typeface="Arial"/>
                <a:sym typeface="Arial"/>
              </a:rPr>
              <a:t>  ➔  </a:t>
            </a:r>
            <a:r>
              <a:rPr lang="en-US" sz="2000" b="1" i="0" u="none" strike="noStrike" cap="none">
                <a:solidFill>
                  <a:srgbClr val="0F172A"/>
                </a:solidFill>
                <a:latin typeface="Arial"/>
                <a:ea typeface="Arial"/>
                <a:cs typeface="Arial"/>
                <a:sym typeface="Arial"/>
              </a:rPr>
              <a:t>Prioritized Risks</a:t>
            </a:r>
            <a:endParaRPr sz="1100" b="0" i="0" u="none" strike="noStrike" cap="none">
              <a:solidFill>
                <a:srgbClr val="000000"/>
              </a:solidFill>
              <a:latin typeface="Arial"/>
              <a:ea typeface="Arial"/>
              <a:cs typeface="Arial"/>
              <a:sym typeface="Arial"/>
            </a:endParaRPr>
          </a:p>
        </p:txBody>
      </p:sp>
      <p:sp>
        <p:nvSpPr>
          <p:cNvPr id="205" name="Google Shape;205;p20"/>
          <p:cNvSpPr/>
          <p:nvPr/>
        </p:nvSpPr>
        <p:spPr>
          <a:xfrm>
            <a:off x="1016000" y="5588000"/>
            <a:ext cx="7112000" cy="1016000"/>
          </a:xfrm>
          <a:prstGeom prst="roundRect">
            <a:avLst>
              <a:gd name="adj" fmla="val 7500"/>
            </a:avLst>
          </a:prstGeom>
          <a:solidFill>
            <a:srgbClr val="F8FAFC"/>
          </a:solidFill>
          <a:ln w="12700" cap="flat" cmpd="sng">
            <a:solidFill>
              <a:srgbClr val="E2E8F0"/>
            </a:solidFill>
            <a:prstDash val="solid"/>
            <a:round/>
            <a:headEnd type="none" w="sm" len="sm"/>
            <a:tailEnd type="none" w="sm" len="sm"/>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475569"/>
                </a:solidFill>
                <a:latin typeface="Arial"/>
                <a:ea typeface="Arial"/>
                <a:cs typeface="Arial"/>
                <a:sym typeface="Arial"/>
              </a:rPr>
              <a:t>Analyst Reports</a:t>
            </a:r>
            <a:r>
              <a:rPr lang="en-US" sz="2000" b="1" i="0" u="none" strike="noStrike" cap="none">
                <a:solidFill>
                  <a:srgbClr val="3B82F6"/>
                </a:solidFill>
                <a:latin typeface="Arial"/>
                <a:ea typeface="Arial"/>
                <a:cs typeface="Arial"/>
                <a:sym typeface="Arial"/>
              </a:rPr>
              <a:t>  ➔  </a:t>
            </a:r>
            <a:r>
              <a:rPr lang="en-US" sz="2000" b="1" i="0" u="none" strike="noStrike" cap="none">
                <a:solidFill>
                  <a:srgbClr val="0F172A"/>
                </a:solidFill>
                <a:latin typeface="Arial"/>
                <a:ea typeface="Arial"/>
                <a:cs typeface="Arial"/>
                <a:sym typeface="Arial"/>
              </a:rPr>
              <a:t>Leadership Summary</a:t>
            </a:r>
            <a:endParaRPr sz="1100" b="0" i="0" u="none" strike="noStrike" cap="none">
              <a:solidFill>
                <a:srgbClr val="000000"/>
              </a:solidFill>
              <a:latin typeface="Arial"/>
              <a:ea typeface="Arial"/>
              <a:cs typeface="Arial"/>
              <a:sym typeface="Arial"/>
            </a:endParaRPr>
          </a:p>
        </p:txBody>
      </p:sp>
      <p:sp>
        <p:nvSpPr>
          <p:cNvPr id="206" name="Google Shape;206;p20"/>
          <p:cNvSpPr/>
          <p:nvPr/>
        </p:nvSpPr>
        <p:spPr>
          <a:xfrm>
            <a:off x="1016000" y="6985000"/>
            <a:ext cx="7112000" cy="1270000"/>
          </a:xfrm>
          <a:prstGeom prst="roundRect">
            <a:avLst>
              <a:gd name="adj" fmla="val 8000"/>
            </a:avLst>
          </a:prstGeom>
          <a:solidFill>
            <a:srgbClr val="1E3A8A">
              <a:alpha val="5098"/>
            </a:srgbClr>
          </a:solidFill>
          <a:ln w="12700" cap="flat" cmpd="sng">
            <a:solidFill>
              <a:srgbClr val="1E3A8A">
                <a:alpha val="20000"/>
              </a:srgbClr>
            </a:solidFill>
            <a:prstDash val="solid"/>
            <a:round/>
            <a:headEnd type="none" w="sm" len="sm"/>
            <a:tailEnd type="none" w="sm" len="sm"/>
          </a:ln>
        </p:spPr>
        <p:txBody>
          <a:bodyPr spcFirstLastPara="1" wrap="square" lIns="254000" tIns="101600" rIns="254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1E3A8A"/>
                </a:solidFill>
                <a:latin typeface="Arial"/>
                <a:ea typeface="Arial"/>
                <a:cs typeface="Arial"/>
                <a:sym typeface="Arial"/>
              </a:rPr>
              <a:t>Supports:</a:t>
            </a:r>
            <a:r>
              <a:rPr lang="en-US" sz="1800" b="0" i="0" u="none" strike="noStrike" cap="none">
                <a:solidFill>
                  <a:srgbClr val="475569"/>
                </a:solidFill>
                <a:latin typeface="Arial"/>
                <a:ea typeface="Arial"/>
                <a:cs typeface="Arial"/>
                <a:sym typeface="Arial"/>
              </a:rPr>
              <a:t> External exposure reviews, security leadership briefings, board reporting, and pre-audit prep.</a:t>
            </a:r>
            <a:endParaRPr sz="1100" b="0" i="0" u="none" strike="noStrike" cap="none">
              <a:solidFill>
                <a:srgbClr val="000000"/>
              </a:solidFill>
              <a:latin typeface="Arial"/>
              <a:ea typeface="Arial"/>
              <a:cs typeface="Arial"/>
              <a:sym typeface="Arial"/>
            </a:endParaRPr>
          </a:p>
        </p:txBody>
      </p:sp>
      <p:pic>
        <p:nvPicPr>
          <p:cNvPr id="207" name="Google Shape;207;p20"/>
          <p:cNvPicPr preferRelativeResize="0"/>
          <p:nvPr/>
        </p:nvPicPr>
        <p:blipFill rotWithShape="1">
          <a:blip r:embed="rId3">
            <a:alphaModFix/>
          </a:blip>
          <a:srcRect/>
          <a:stretch/>
        </p:blipFill>
        <p:spPr>
          <a:xfrm>
            <a:off x="9144000" y="2032000"/>
            <a:ext cx="6096000" cy="6096000"/>
          </a:xfrm>
          <a:prstGeom prst="roundRect">
            <a:avLst>
              <a:gd name="adj" fmla="val 1666"/>
            </a:avLst>
          </a:prstGeom>
          <a:noFill/>
          <a:ln>
            <a:noFill/>
          </a:ln>
          <a:effectLst>
            <a:outerShdw blurRad="190500" dist="76200" dir="2700000" algn="tl" rotWithShape="0">
              <a:srgbClr val="000000">
                <a:alpha val="10196"/>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893"/>
            <a:ext cx="16255771" cy="9142214"/>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1" y="893"/>
            <a:ext cx="16255771" cy="9142214"/>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10e04f7a98434a450322a2a657ee179.png"/>
          <p:cNvPicPr>
            <a:picLocks noChangeAspect="1"/>
          </p:cNvPicPr>
          <p:nvPr/>
        </p:nvPicPr>
        <p:blipFill>
          <a:blip r:embed="rId3"/>
          <a:srcRect l="-80" r="-80"/>
          <a:stretch/>
        </p:blipFill>
        <p:spPr>
          <a:xfrm>
            <a:off x="1019357" y="1333828"/>
            <a:ext cx="1142777" cy="47540"/>
          </a:xfrm>
          <a:prstGeom prst="rect">
            <a:avLst/>
          </a:prstGeom>
        </p:spPr>
      </p:pic>
      <p:sp>
        <p:nvSpPr>
          <p:cNvPr id="5" name="Shape 2"/>
          <p:cNvSpPr/>
          <p:nvPr/>
        </p:nvSpPr>
        <p:spPr>
          <a:xfrm>
            <a:off x="1019358" y="2191367"/>
            <a:ext cx="5733082" cy="1638285"/>
          </a:xfrm>
          <a:prstGeom prst="rect">
            <a:avLst/>
          </a:prstGeom>
          <a:solidFill>
            <a:srgbClr val="F8FAFC"/>
          </a:solidFill>
          <a:ln w="12700">
            <a:solidFill>
              <a:srgbClr val="E2E8F0"/>
            </a:solidFill>
            <a:prstDash val="solid"/>
          </a:ln>
        </p:spPr>
        <p:txBody>
          <a:bodyPr/>
          <a:lstStyle/>
          <a:p>
            <a:endParaRPr lang="en-US"/>
          </a:p>
        </p:txBody>
      </p:sp>
      <p:pic>
        <p:nvPicPr>
          <p:cNvPr id="6" name="Image 1" descr="gen-dedup-282d91ff75f7e66a6a98fb70b13e352c.png"/>
          <p:cNvPicPr>
            <a:picLocks noChangeAspect="1"/>
          </p:cNvPicPr>
          <p:nvPr/>
        </p:nvPicPr>
        <p:blipFill>
          <a:blip r:embed="rId4"/>
          <a:srcRect l="-80" r="-80"/>
          <a:stretch/>
        </p:blipFill>
        <p:spPr>
          <a:xfrm>
            <a:off x="1019357" y="2191367"/>
            <a:ext cx="5713884" cy="47540"/>
          </a:xfrm>
          <a:prstGeom prst="rect">
            <a:avLst/>
          </a:prstGeom>
        </p:spPr>
      </p:pic>
      <p:sp>
        <p:nvSpPr>
          <p:cNvPr id="7" name="Shape 3"/>
          <p:cNvSpPr/>
          <p:nvPr/>
        </p:nvSpPr>
        <p:spPr>
          <a:xfrm>
            <a:off x="1019358" y="4000612"/>
            <a:ext cx="5733082" cy="1733363"/>
          </a:xfrm>
          <a:prstGeom prst="rect">
            <a:avLst/>
          </a:prstGeom>
          <a:solidFill>
            <a:srgbClr val="F8FAFC"/>
          </a:solidFill>
          <a:ln w="12700">
            <a:solidFill>
              <a:srgbClr val="E2E8F0"/>
            </a:solidFill>
            <a:prstDash val="solid"/>
          </a:ln>
        </p:spPr>
        <p:txBody>
          <a:bodyPr/>
          <a:lstStyle/>
          <a:p>
            <a:endParaRPr lang="en-US"/>
          </a:p>
        </p:txBody>
      </p:sp>
      <p:pic>
        <p:nvPicPr>
          <p:cNvPr id="8" name="Image 2" descr="gen-dedup-c0f8eb82f8488724b184337cfaa75975.png"/>
          <p:cNvPicPr>
            <a:picLocks noChangeAspect="1"/>
          </p:cNvPicPr>
          <p:nvPr/>
        </p:nvPicPr>
        <p:blipFill>
          <a:blip r:embed="rId5"/>
          <a:srcRect l="-80" r="-80"/>
          <a:stretch/>
        </p:blipFill>
        <p:spPr>
          <a:xfrm>
            <a:off x="1019357" y="4000612"/>
            <a:ext cx="5713884" cy="47540"/>
          </a:xfrm>
          <a:prstGeom prst="rect">
            <a:avLst/>
          </a:prstGeom>
        </p:spPr>
      </p:pic>
      <p:sp>
        <p:nvSpPr>
          <p:cNvPr id="9" name="Shape 4"/>
          <p:cNvSpPr/>
          <p:nvPr/>
        </p:nvSpPr>
        <p:spPr>
          <a:xfrm>
            <a:off x="1019358" y="5904935"/>
            <a:ext cx="5733082" cy="1733363"/>
          </a:xfrm>
          <a:prstGeom prst="rect">
            <a:avLst/>
          </a:prstGeom>
          <a:solidFill>
            <a:srgbClr val="F8FAFC"/>
          </a:solidFill>
          <a:ln w="12700">
            <a:solidFill>
              <a:srgbClr val="E2E8F0"/>
            </a:solidFill>
            <a:prstDash val="solid"/>
          </a:ln>
        </p:spPr>
        <p:txBody>
          <a:bodyPr/>
          <a:lstStyle/>
          <a:p>
            <a:endParaRPr lang="en-US"/>
          </a:p>
        </p:txBody>
      </p:sp>
      <p:pic>
        <p:nvPicPr>
          <p:cNvPr id="10" name="Image 3" descr="gen-dedup-64c4badce732fcffc8bad9671c4eaf87.png"/>
          <p:cNvPicPr>
            <a:picLocks noChangeAspect="1"/>
          </p:cNvPicPr>
          <p:nvPr/>
        </p:nvPicPr>
        <p:blipFill>
          <a:blip r:embed="rId6"/>
          <a:srcRect l="-80" r="-80"/>
          <a:stretch/>
        </p:blipFill>
        <p:spPr>
          <a:xfrm>
            <a:off x="1019357" y="5904935"/>
            <a:ext cx="5713884" cy="47540"/>
          </a:xfrm>
          <a:prstGeom prst="rect">
            <a:avLst/>
          </a:prstGeom>
        </p:spPr>
      </p:pic>
      <p:sp>
        <p:nvSpPr>
          <p:cNvPr id="11" name="Shape 5"/>
          <p:cNvSpPr/>
          <p:nvPr/>
        </p:nvSpPr>
        <p:spPr>
          <a:xfrm>
            <a:off x="7904359" y="2286447"/>
            <a:ext cx="5561209" cy="5561209"/>
          </a:xfrm>
          <a:prstGeom prst="ellipse">
            <a:avLst/>
          </a:prstGeom>
          <a:solidFill>
            <a:srgbClr val="F8FAFC"/>
          </a:solidFill>
          <a:ln w="25400">
            <a:solidFill>
              <a:srgbClr val="CBD5E1"/>
            </a:solidFill>
            <a:prstDash val="solid"/>
          </a:ln>
        </p:spPr>
        <p:txBody>
          <a:bodyPr/>
          <a:lstStyle/>
          <a:p>
            <a:endParaRPr lang="en-US"/>
          </a:p>
        </p:txBody>
      </p:sp>
      <p:sp>
        <p:nvSpPr>
          <p:cNvPr id="12" name="Shape 6"/>
          <p:cNvSpPr/>
          <p:nvPr/>
        </p:nvSpPr>
        <p:spPr>
          <a:xfrm>
            <a:off x="8760985" y="3143986"/>
            <a:ext cx="3847044" cy="3847044"/>
          </a:xfrm>
          <a:prstGeom prst="ellipse">
            <a:avLst/>
          </a:prstGeom>
          <a:solidFill>
            <a:srgbClr val="EFF6FF"/>
          </a:solidFill>
          <a:ln w="25400">
            <a:solidFill>
              <a:srgbClr val="3B82F6"/>
            </a:solidFill>
            <a:prstDash val="solid"/>
          </a:ln>
        </p:spPr>
        <p:txBody>
          <a:bodyPr/>
          <a:lstStyle/>
          <a:p>
            <a:endParaRPr lang="en-US"/>
          </a:p>
        </p:txBody>
      </p:sp>
      <p:pic>
        <p:nvPicPr>
          <p:cNvPr id="13" name="Image 4" descr="gen-dedup-b8617eaa32b7922dc12d6929187c8d31.png"/>
          <p:cNvPicPr>
            <a:picLocks noChangeAspect="1"/>
          </p:cNvPicPr>
          <p:nvPr/>
        </p:nvPicPr>
        <p:blipFill>
          <a:blip r:embed="rId7"/>
          <a:srcRect/>
          <a:stretch/>
        </p:blipFill>
        <p:spPr>
          <a:xfrm>
            <a:off x="9475906" y="3857993"/>
            <a:ext cx="2380633" cy="2380633"/>
          </a:xfrm>
          <a:prstGeom prst="rect">
            <a:avLst/>
          </a:prstGeom>
        </p:spPr>
      </p:pic>
      <p:sp>
        <p:nvSpPr>
          <p:cNvPr id="14" name="Shape 7"/>
          <p:cNvSpPr/>
          <p:nvPr/>
        </p:nvSpPr>
        <p:spPr>
          <a:xfrm>
            <a:off x="1019357" y="8286482"/>
            <a:ext cx="14265512" cy="532991"/>
          </a:xfrm>
          <a:prstGeom prst="rect">
            <a:avLst/>
          </a:prstGeom>
          <a:solidFill>
            <a:srgbClr val="EFF6FF"/>
          </a:solidFill>
          <a:ln/>
        </p:spPr>
        <p:txBody>
          <a:bodyPr/>
          <a:lstStyle/>
          <a:p>
            <a:endParaRPr lang="en-US"/>
          </a:p>
        </p:txBody>
      </p:sp>
      <p:sp>
        <p:nvSpPr>
          <p:cNvPr id="15" name="Shape 8"/>
          <p:cNvSpPr/>
          <p:nvPr/>
        </p:nvSpPr>
        <p:spPr>
          <a:xfrm>
            <a:off x="1019358" y="8286482"/>
            <a:ext cx="47540" cy="532991"/>
          </a:xfrm>
          <a:prstGeom prst="rect">
            <a:avLst/>
          </a:prstGeom>
          <a:solidFill>
            <a:srgbClr val="3B82F6"/>
          </a:solidFill>
          <a:ln w="12700">
            <a:solidFill>
              <a:srgbClr val="3B82F6">
                <a:alpha val="0"/>
              </a:srgbClr>
            </a:solidFill>
            <a:prstDash val="solid"/>
          </a:ln>
        </p:spPr>
        <p:txBody>
          <a:bodyPr/>
          <a:lstStyle/>
          <a:p>
            <a:endParaRPr lang="en-US"/>
          </a:p>
        </p:txBody>
      </p:sp>
      <p:pic>
        <p:nvPicPr>
          <p:cNvPr id="16" name="Image 5" descr="gen-dedup-b0cd7b831d6c0ae6aa51ba6807cbe9b9.png"/>
          <p:cNvPicPr>
            <a:picLocks noChangeAspect="1"/>
          </p:cNvPicPr>
          <p:nvPr/>
        </p:nvPicPr>
        <p:blipFill>
          <a:blip r:embed="rId8"/>
          <a:srcRect/>
          <a:stretch/>
        </p:blipFill>
        <p:spPr>
          <a:xfrm>
            <a:off x="10599485" y="2219709"/>
            <a:ext cx="190158" cy="190158"/>
          </a:xfrm>
          <a:prstGeom prst="rect">
            <a:avLst/>
          </a:prstGeom>
        </p:spPr>
      </p:pic>
      <p:pic>
        <p:nvPicPr>
          <p:cNvPr id="17" name="Image 6" descr="gen-dedup-b0cd7b831d6c0ae6aa51ba6807cbe9b9.png"/>
          <p:cNvPicPr>
            <a:picLocks noChangeAspect="1"/>
          </p:cNvPicPr>
          <p:nvPr/>
        </p:nvPicPr>
        <p:blipFill>
          <a:blip r:embed="rId8"/>
          <a:srcRect/>
          <a:stretch/>
        </p:blipFill>
        <p:spPr>
          <a:xfrm>
            <a:off x="13361347" y="4981571"/>
            <a:ext cx="190158" cy="190158"/>
          </a:xfrm>
          <a:prstGeom prst="rect">
            <a:avLst/>
          </a:prstGeom>
        </p:spPr>
      </p:pic>
      <p:pic>
        <p:nvPicPr>
          <p:cNvPr id="18" name="Image 7" descr="gen-dedup-b0cd7b831d6c0ae6aa51ba6807cbe9b9.png"/>
          <p:cNvPicPr>
            <a:picLocks noChangeAspect="1"/>
          </p:cNvPicPr>
          <p:nvPr/>
        </p:nvPicPr>
        <p:blipFill>
          <a:blip r:embed="rId8"/>
          <a:srcRect/>
          <a:stretch/>
        </p:blipFill>
        <p:spPr>
          <a:xfrm>
            <a:off x="10599485" y="7743435"/>
            <a:ext cx="190158" cy="190158"/>
          </a:xfrm>
          <a:prstGeom prst="rect">
            <a:avLst/>
          </a:prstGeom>
        </p:spPr>
      </p:pic>
      <p:pic>
        <p:nvPicPr>
          <p:cNvPr id="19" name="Image 8" descr="gen-dedup-b0cd7b831d6c0ae6aa51ba6807cbe9b9.png"/>
          <p:cNvPicPr>
            <a:picLocks noChangeAspect="1"/>
          </p:cNvPicPr>
          <p:nvPr/>
        </p:nvPicPr>
        <p:blipFill>
          <a:blip r:embed="rId8"/>
          <a:srcRect/>
          <a:stretch/>
        </p:blipFill>
        <p:spPr>
          <a:xfrm>
            <a:off x="7837621" y="4981571"/>
            <a:ext cx="190158" cy="190158"/>
          </a:xfrm>
          <a:prstGeom prst="rect">
            <a:avLst/>
          </a:prstGeom>
        </p:spPr>
      </p:pic>
      <p:sp>
        <p:nvSpPr>
          <p:cNvPr id="20" name="Text 9"/>
          <p:cNvSpPr txBox="1"/>
          <p:nvPr/>
        </p:nvSpPr>
        <p:spPr>
          <a:xfrm>
            <a:off x="1019357" y="639019"/>
            <a:ext cx="11427768" cy="342833"/>
          </a:xfrm>
          <a:prstGeom prst="rect">
            <a:avLst/>
          </a:prstGeom>
          <a:noFill/>
          <a:ln/>
        </p:spPr>
        <p:txBody>
          <a:bodyPr wrap="square" lIns="0" tIns="0" rIns="0" bIns="0" rtlCol="0" anchor="ctr"/>
          <a:lstStyle/>
          <a:p>
            <a:r>
              <a:rPr lang="en-US" sz="2999" b="1" dirty="0">
                <a:solidFill>
                  <a:srgbClr val="0F172A"/>
                </a:solidFill>
                <a:latin typeface="Arial" pitchFamily="34" charset="0"/>
                <a:ea typeface="Arial" pitchFamily="34" charset="-122"/>
                <a:cs typeface="Arial" pitchFamily="34" charset="-120"/>
              </a:rPr>
              <a:t>Golden Circle Framework</a:t>
            </a:r>
            <a:endParaRPr lang="en-US" sz="2999" dirty="0"/>
          </a:p>
        </p:txBody>
      </p:sp>
      <p:sp>
        <p:nvSpPr>
          <p:cNvPr id="21" name="Text 10"/>
          <p:cNvSpPr txBox="1"/>
          <p:nvPr/>
        </p:nvSpPr>
        <p:spPr>
          <a:xfrm>
            <a:off x="1019357" y="1524900"/>
            <a:ext cx="13333006" cy="228555"/>
          </a:xfrm>
          <a:prstGeom prst="rect">
            <a:avLst/>
          </a:prstGeom>
          <a:noFill/>
          <a:ln/>
        </p:spPr>
        <p:txBody>
          <a:bodyPr wrap="square" lIns="0" tIns="0" rIns="0" bIns="0" rtlCol="0" anchor="ctr"/>
          <a:lstStyle/>
          <a:p>
            <a:r>
              <a:rPr lang="en-US" sz="1500" dirty="0">
                <a:solidFill>
                  <a:srgbClr val="475569"/>
                </a:solidFill>
                <a:latin typeface="Arial" pitchFamily="34" charset="0"/>
                <a:ea typeface="Arial" pitchFamily="34" charset="-122"/>
                <a:cs typeface="Arial" pitchFamily="34" charset="-120"/>
              </a:rPr>
              <a:t>Why PROBE exists, how it works, and what it delivers.</a:t>
            </a:r>
            <a:endParaRPr lang="en-US" sz="1500" dirty="0"/>
          </a:p>
        </p:txBody>
      </p:sp>
      <p:sp>
        <p:nvSpPr>
          <p:cNvPr id="22" name="Text 11"/>
          <p:cNvSpPr txBox="1"/>
          <p:nvPr/>
        </p:nvSpPr>
        <p:spPr>
          <a:xfrm>
            <a:off x="1209515" y="2381526"/>
            <a:ext cx="5333568" cy="143533"/>
          </a:xfrm>
          <a:prstGeom prst="rect">
            <a:avLst/>
          </a:prstGeom>
          <a:noFill/>
          <a:ln/>
        </p:spPr>
        <p:txBody>
          <a:bodyPr wrap="square" lIns="0" tIns="0" rIns="0" bIns="0" rtlCol="0" anchor="ctr"/>
          <a:lstStyle/>
          <a:p>
            <a:r>
              <a:rPr lang="en-US" sz="900" b="1" spc="176" dirty="0">
                <a:solidFill>
                  <a:srgbClr val="1E3A8A"/>
                </a:solidFill>
                <a:latin typeface="Arial" pitchFamily="34" charset="0"/>
                <a:ea typeface="Arial" pitchFamily="34" charset="-122"/>
                <a:cs typeface="Arial" pitchFamily="34" charset="-120"/>
              </a:rPr>
              <a:t>WHY · PURPOSE</a:t>
            </a:r>
            <a:endParaRPr lang="en-US" sz="900" dirty="0"/>
          </a:p>
        </p:txBody>
      </p:sp>
      <p:sp>
        <p:nvSpPr>
          <p:cNvPr id="23" name="Text 12"/>
          <p:cNvSpPr txBox="1"/>
          <p:nvPr/>
        </p:nvSpPr>
        <p:spPr>
          <a:xfrm>
            <a:off x="1209515" y="2620137"/>
            <a:ext cx="6019234" cy="238611"/>
          </a:xfrm>
          <a:prstGeom prst="rect">
            <a:avLst/>
          </a:prstGeom>
          <a:noFill/>
          <a:ln/>
        </p:spPr>
        <p:txBody>
          <a:bodyPr wrap="square" lIns="0" tIns="0" rIns="0" bIns="0" rtlCol="0" anchor="ctr"/>
          <a:lstStyle/>
          <a:p>
            <a:r>
              <a:rPr lang="en-US" sz="1500" b="1" dirty="0">
                <a:solidFill>
                  <a:srgbClr val="0F172A"/>
                </a:solidFill>
                <a:latin typeface="Arial" pitchFamily="34" charset="0"/>
                <a:ea typeface="Arial" pitchFamily="34" charset="-122"/>
                <a:cs typeface="Arial" pitchFamily="34" charset="-120"/>
              </a:rPr>
              <a:t>Help organizations understand public internet exposure</a:t>
            </a:r>
            <a:endParaRPr lang="en-US" sz="1500" dirty="0"/>
          </a:p>
        </p:txBody>
      </p:sp>
      <p:sp>
        <p:nvSpPr>
          <p:cNvPr id="24" name="Text 13"/>
          <p:cNvSpPr txBox="1"/>
          <p:nvPr/>
        </p:nvSpPr>
        <p:spPr>
          <a:xfrm>
            <a:off x="1209515" y="2933715"/>
            <a:ext cx="5333568" cy="228555"/>
          </a:xfrm>
          <a:prstGeom prst="rect">
            <a:avLst/>
          </a:prstGeom>
          <a:noFill/>
          <a:ln/>
        </p:spPr>
        <p:txBody>
          <a:bodyPr wrap="square" lIns="0" tIns="0" rIns="0" bIns="0" rtlCol="0" anchor="ctr"/>
          <a:lstStyle/>
          <a:p>
            <a:r>
              <a:rPr lang="en-US" sz="1200" dirty="0">
                <a:solidFill>
                  <a:srgbClr val="475569"/>
                </a:solidFill>
                <a:latin typeface="Arial" pitchFamily="34" charset="0"/>
                <a:ea typeface="Arial" pitchFamily="34" charset="-122"/>
                <a:cs typeface="Arial" pitchFamily="34" charset="-120"/>
              </a:rPr>
              <a:t>before attackers do.</a:t>
            </a:r>
            <a:endParaRPr lang="en-US" sz="1200" dirty="0"/>
          </a:p>
        </p:txBody>
      </p:sp>
      <p:sp>
        <p:nvSpPr>
          <p:cNvPr id="25" name="Text 14"/>
          <p:cNvSpPr txBox="1"/>
          <p:nvPr/>
        </p:nvSpPr>
        <p:spPr>
          <a:xfrm>
            <a:off x="1209515" y="4190770"/>
            <a:ext cx="5333568" cy="143533"/>
          </a:xfrm>
          <a:prstGeom prst="rect">
            <a:avLst/>
          </a:prstGeom>
          <a:noFill/>
          <a:ln/>
        </p:spPr>
        <p:txBody>
          <a:bodyPr wrap="square" lIns="0" tIns="0" rIns="0" bIns="0" rtlCol="0" anchor="ctr"/>
          <a:lstStyle/>
          <a:p>
            <a:r>
              <a:rPr lang="en-US" sz="900" b="1" spc="176" dirty="0">
                <a:solidFill>
                  <a:srgbClr val="3B82F6"/>
                </a:solidFill>
                <a:latin typeface="Arial" pitchFamily="34" charset="0"/>
                <a:ea typeface="Arial" pitchFamily="34" charset="-122"/>
                <a:cs typeface="Arial" pitchFamily="34" charset="-120"/>
              </a:rPr>
              <a:t>HOW · APPROACH</a:t>
            </a:r>
            <a:endParaRPr lang="en-US" sz="900" dirty="0"/>
          </a:p>
        </p:txBody>
      </p:sp>
      <p:sp>
        <p:nvSpPr>
          <p:cNvPr id="26" name="Text 15"/>
          <p:cNvSpPr txBox="1"/>
          <p:nvPr/>
        </p:nvSpPr>
        <p:spPr>
          <a:xfrm>
            <a:off x="1209515" y="4429382"/>
            <a:ext cx="5664516" cy="238611"/>
          </a:xfrm>
          <a:prstGeom prst="rect">
            <a:avLst/>
          </a:prstGeom>
          <a:noFill/>
          <a:ln/>
        </p:spPr>
        <p:txBody>
          <a:bodyPr wrap="square" lIns="0" tIns="0" rIns="0" bIns="0" rtlCol="0" anchor="ctr"/>
          <a:lstStyle/>
          <a:p>
            <a:r>
              <a:rPr lang="en-US" sz="1500" b="1" dirty="0">
                <a:solidFill>
                  <a:srgbClr val="0F172A"/>
                </a:solidFill>
                <a:latin typeface="Arial" pitchFamily="34" charset="0"/>
                <a:ea typeface="Arial" pitchFamily="34" charset="-122"/>
                <a:cs typeface="Arial" pitchFamily="34" charset="-120"/>
              </a:rPr>
              <a:t>Translate technical findings into business risk</a:t>
            </a:r>
            <a:endParaRPr lang="en-US" sz="1500" dirty="0"/>
          </a:p>
        </p:txBody>
      </p:sp>
      <p:sp>
        <p:nvSpPr>
          <p:cNvPr id="27" name="Text 16"/>
          <p:cNvSpPr txBox="1"/>
          <p:nvPr/>
        </p:nvSpPr>
        <p:spPr>
          <a:xfrm>
            <a:off x="1209515" y="4743874"/>
            <a:ext cx="6019234" cy="228555"/>
          </a:xfrm>
          <a:prstGeom prst="rect">
            <a:avLst/>
          </a:prstGeom>
          <a:noFill/>
          <a:ln/>
        </p:spPr>
        <p:txBody>
          <a:bodyPr wrap="square" lIns="0" tIns="0" rIns="0" bIns="0" rtlCol="0" anchor="ctr"/>
          <a:lstStyle/>
          <a:p>
            <a:r>
              <a:rPr lang="en-US" sz="1200" dirty="0">
                <a:solidFill>
                  <a:srgbClr val="475569"/>
                </a:solidFill>
                <a:latin typeface="Arial" pitchFamily="34" charset="0"/>
                <a:ea typeface="Arial" pitchFamily="34" charset="-122"/>
                <a:cs typeface="Arial" pitchFamily="34" charset="-120"/>
              </a:rPr>
              <a:t>Safe, outside-in reconnaissance distilled into executive-level insights.</a:t>
            </a:r>
            <a:endParaRPr lang="en-US" sz="1200" dirty="0"/>
          </a:p>
        </p:txBody>
      </p:sp>
      <p:sp>
        <p:nvSpPr>
          <p:cNvPr id="28" name="Text 17"/>
          <p:cNvSpPr txBox="1"/>
          <p:nvPr/>
        </p:nvSpPr>
        <p:spPr>
          <a:xfrm>
            <a:off x="1209515" y="6096008"/>
            <a:ext cx="5333568" cy="143533"/>
          </a:xfrm>
          <a:prstGeom prst="rect">
            <a:avLst/>
          </a:prstGeom>
          <a:noFill/>
          <a:ln/>
        </p:spPr>
        <p:txBody>
          <a:bodyPr wrap="square" lIns="0" tIns="0" rIns="0" bIns="0" rtlCol="0" anchor="ctr"/>
          <a:lstStyle/>
          <a:p>
            <a:r>
              <a:rPr lang="en-US" sz="900" b="1" spc="176" dirty="0">
                <a:solidFill>
                  <a:srgbClr val="475569"/>
                </a:solidFill>
                <a:latin typeface="Arial" pitchFamily="34" charset="0"/>
                <a:ea typeface="Arial" pitchFamily="34" charset="-122"/>
                <a:cs typeface="Arial" pitchFamily="34" charset="-120"/>
              </a:rPr>
              <a:t>WHAT · PRODUCT</a:t>
            </a:r>
            <a:endParaRPr lang="en-US" sz="900" dirty="0"/>
          </a:p>
        </p:txBody>
      </p:sp>
      <p:sp>
        <p:nvSpPr>
          <p:cNvPr id="29" name="Text 18"/>
          <p:cNvSpPr txBox="1"/>
          <p:nvPr/>
        </p:nvSpPr>
        <p:spPr>
          <a:xfrm>
            <a:off x="1209515" y="6333705"/>
            <a:ext cx="6019234" cy="238611"/>
          </a:xfrm>
          <a:prstGeom prst="rect">
            <a:avLst/>
          </a:prstGeom>
          <a:noFill/>
          <a:ln/>
        </p:spPr>
        <p:txBody>
          <a:bodyPr wrap="square" lIns="0" tIns="0" rIns="0" bIns="0" rtlCol="0" anchor="ctr"/>
          <a:lstStyle/>
          <a:p>
            <a:r>
              <a:rPr lang="en-US" sz="1500" b="1" dirty="0">
                <a:solidFill>
                  <a:srgbClr val="0F172A"/>
                </a:solidFill>
                <a:latin typeface="Arial" pitchFamily="34" charset="0"/>
                <a:ea typeface="Arial" pitchFamily="34" charset="-122"/>
                <a:cs typeface="Arial" pitchFamily="34" charset="-120"/>
              </a:rPr>
              <a:t>A lightweight external exposure reporting platform</a:t>
            </a:r>
            <a:endParaRPr lang="en-US" sz="1500" dirty="0"/>
          </a:p>
        </p:txBody>
      </p:sp>
      <p:sp>
        <p:nvSpPr>
          <p:cNvPr id="30" name="Text 19"/>
          <p:cNvSpPr txBox="1"/>
          <p:nvPr/>
        </p:nvSpPr>
        <p:spPr>
          <a:xfrm>
            <a:off x="1209515" y="6648197"/>
            <a:ext cx="5333568" cy="228555"/>
          </a:xfrm>
          <a:prstGeom prst="rect">
            <a:avLst/>
          </a:prstGeom>
          <a:noFill/>
          <a:ln/>
        </p:spPr>
        <p:txBody>
          <a:bodyPr wrap="square" lIns="0" tIns="0" rIns="0" bIns="0" rtlCol="0" anchor="ctr"/>
          <a:lstStyle/>
          <a:p>
            <a:r>
              <a:rPr lang="en-US" sz="1200" dirty="0">
                <a:solidFill>
                  <a:srgbClr val="475569"/>
                </a:solidFill>
                <a:latin typeface="Arial" pitchFamily="34" charset="0"/>
                <a:ea typeface="Arial" pitchFamily="34" charset="-122"/>
                <a:cs typeface="Arial" pitchFamily="34" charset="-120"/>
              </a:rPr>
              <a:t>Built for executives and security leadership.</a:t>
            </a:r>
            <a:endParaRPr lang="en-US" sz="1200" dirty="0"/>
          </a:p>
        </p:txBody>
      </p:sp>
      <p:sp>
        <p:nvSpPr>
          <p:cNvPr id="31" name="Text 20"/>
          <p:cNvSpPr txBox="1"/>
          <p:nvPr/>
        </p:nvSpPr>
        <p:spPr>
          <a:xfrm>
            <a:off x="10315161" y="2152970"/>
            <a:ext cx="704864" cy="210271"/>
          </a:xfrm>
          <a:prstGeom prst="rect">
            <a:avLst/>
          </a:prstGeom>
          <a:solidFill>
            <a:srgbClr val="FFFFFF"/>
          </a:solidFill>
          <a:ln>
            <a:solidFill>
              <a:srgbClr val="FFFFFF">
                <a:alpha val="0"/>
              </a:srgbClr>
            </a:solidFill>
          </a:ln>
        </p:spPr>
        <p:txBody>
          <a:bodyPr wrap="square" lIns="139673" tIns="38093" rIns="139673" bIns="38093" rtlCol="0" anchor="ctr"/>
          <a:lstStyle/>
          <a:p>
            <a:pPr algn="ctr"/>
            <a:r>
              <a:rPr lang="en-US" sz="900" b="1" spc="198" dirty="0">
                <a:solidFill>
                  <a:srgbClr val="475569"/>
                </a:solidFill>
                <a:latin typeface="Arial" pitchFamily="34" charset="0"/>
                <a:ea typeface="Arial" pitchFamily="34" charset="-122"/>
                <a:cs typeface="Arial" pitchFamily="34" charset="-120"/>
              </a:rPr>
              <a:t>WHAT</a:t>
            </a:r>
            <a:endParaRPr lang="en-US" sz="900" dirty="0"/>
          </a:p>
        </p:txBody>
      </p:sp>
      <p:sp>
        <p:nvSpPr>
          <p:cNvPr id="32" name="Text 21"/>
          <p:cNvSpPr txBox="1"/>
          <p:nvPr/>
        </p:nvSpPr>
        <p:spPr>
          <a:xfrm>
            <a:off x="10355388" y="3010510"/>
            <a:ext cx="628984" cy="210271"/>
          </a:xfrm>
          <a:prstGeom prst="rect">
            <a:avLst/>
          </a:prstGeom>
          <a:solidFill>
            <a:srgbClr val="FFFFFF"/>
          </a:solidFill>
          <a:ln>
            <a:solidFill>
              <a:srgbClr val="FFFFFF">
                <a:alpha val="0"/>
              </a:srgbClr>
            </a:solidFill>
          </a:ln>
        </p:spPr>
        <p:txBody>
          <a:bodyPr wrap="square" lIns="139673" tIns="38093" rIns="139673" bIns="38093" rtlCol="0" anchor="ctr"/>
          <a:lstStyle/>
          <a:p>
            <a:pPr algn="ctr"/>
            <a:r>
              <a:rPr lang="en-US" sz="900" b="1" spc="198" dirty="0">
                <a:solidFill>
                  <a:srgbClr val="3B82F6"/>
                </a:solidFill>
                <a:latin typeface="Arial" pitchFamily="34" charset="0"/>
                <a:ea typeface="Arial" pitchFamily="34" charset="-122"/>
                <a:cs typeface="Arial" pitchFamily="34" charset="-120"/>
              </a:rPr>
              <a:t>HOW</a:t>
            </a:r>
            <a:endParaRPr lang="en-US" sz="900" dirty="0"/>
          </a:p>
        </p:txBody>
      </p:sp>
      <p:sp>
        <p:nvSpPr>
          <p:cNvPr id="33" name="Text 22"/>
          <p:cNvSpPr txBox="1"/>
          <p:nvPr/>
        </p:nvSpPr>
        <p:spPr>
          <a:xfrm>
            <a:off x="9475906" y="4572000"/>
            <a:ext cx="2381547" cy="133476"/>
          </a:xfrm>
          <a:prstGeom prst="rect">
            <a:avLst/>
          </a:prstGeom>
          <a:noFill/>
          <a:ln/>
        </p:spPr>
        <p:txBody>
          <a:bodyPr wrap="square" lIns="0" tIns="0" rIns="0" bIns="0" rtlCol="0" anchor="ctr"/>
          <a:lstStyle/>
          <a:p>
            <a:pPr algn="ctr"/>
            <a:r>
              <a:rPr lang="en-US" sz="900" b="1" spc="198" dirty="0">
                <a:solidFill>
                  <a:srgbClr val="BFDBFE"/>
                </a:solidFill>
                <a:latin typeface="Arial" pitchFamily="34" charset="0"/>
                <a:ea typeface="Arial" pitchFamily="34" charset="-122"/>
                <a:cs typeface="Arial" pitchFamily="34" charset="-120"/>
              </a:rPr>
              <a:t>WHY</a:t>
            </a:r>
            <a:endParaRPr lang="en-US" sz="900" dirty="0"/>
          </a:p>
        </p:txBody>
      </p:sp>
      <p:sp>
        <p:nvSpPr>
          <p:cNvPr id="34" name="Text 23"/>
          <p:cNvSpPr txBox="1"/>
          <p:nvPr/>
        </p:nvSpPr>
        <p:spPr>
          <a:xfrm>
            <a:off x="9475906" y="4838953"/>
            <a:ext cx="2381547" cy="342833"/>
          </a:xfrm>
          <a:prstGeom prst="rect">
            <a:avLst/>
          </a:prstGeom>
          <a:noFill/>
          <a:ln/>
        </p:spPr>
        <p:txBody>
          <a:bodyPr wrap="square" lIns="0" tIns="0" rIns="0" bIns="0" rtlCol="0" anchor="ctr"/>
          <a:lstStyle/>
          <a:p>
            <a:pPr algn="ctr"/>
            <a:r>
              <a:rPr lang="en-US" sz="2400" b="1" dirty="0">
                <a:solidFill>
                  <a:srgbClr val="FFFFFF"/>
                </a:solidFill>
                <a:latin typeface="Arial" pitchFamily="34" charset="0"/>
                <a:ea typeface="Arial" pitchFamily="34" charset="-122"/>
                <a:cs typeface="Arial" pitchFamily="34" charset="-120"/>
              </a:rPr>
              <a:t>Purpose</a:t>
            </a:r>
            <a:endParaRPr lang="en-US" sz="2400" dirty="0"/>
          </a:p>
        </p:txBody>
      </p:sp>
      <p:pic>
        <p:nvPicPr>
          <p:cNvPr id="35" name="Image 9" descr="gen-dedup-0239a33866eda11df8cb414a5f11dd5d.png"/>
          <p:cNvPicPr>
            <a:picLocks noChangeAspect="1"/>
          </p:cNvPicPr>
          <p:nvPr/>
        </p:nvPicPr>
        <p:blipFill>
          <a:blip r:embed="rId9"/>
          <a:srcRect/>
          <a:stretch/>
        </p:blipFill>
        <p:spPr>
          <a:xfrm>
            <a:off x="14570862" y="639019"/>
            <a:ext cx="571388" cy="571388"/>
          </a:xfrm>
          <a:prstGeom prst="rect">
            <a:avLst/>
          </a:prstGeom>
        </p:spPr>
      </p:pic>
      <p:sp>
        <p:nvSpPr>
          <p:cNvPr id="36" name="Text 24"/>
          <p:cNvSpPr txBox="1"/>
          <p:nvPr/>
        </p:nvSpPr>
        <p:spPr>
          <a:xfrm>
            <a:off x="1247913" y="8286481"/>
            <a:ext cx="7266232" cy="533906"/>
          </a:xfrm>
          <a:prstGeom prst="rect">
            <a:avLst/>
          </a:prstGeom>
          <a:noFill/>
          <a:ln/>
        </p:spPr>
        <p:txBody>
          <a:bodyPr wrap="square" lIns="0" tIns="0" rIns="0" bIns="0" rtlCol="0" anchor="ctr"/>
          <a:lstStyle/>
          <a:p>
            <a:r>
              <a:rPr lang="en-US" sz="1300" i="1" dirty="0">
                <a:solidFill>
                  <a:srgbClr val="0F172A"/>
                </a:solidFill>
                <a:latin typeface="Arial" pitchFamily="34" charset="0"/>
                <a:ea typeface="Arial" pitchFamily="34" charset="-122"/>
                <a:cs typeface="Arial" pitchFamily="34" charset="-120"/>
              </a:rPr>
              <a:t>"PROBE bridges the gap between technical visibility and strategic business decisions."</a:t>
            </a:r>
            <a:endParaRPr lang="en-US" sz="1300" dirty="0"/>
          </a:p>
        </p:txBody>
      </p:sp>
    </p:spTree>
    <p:extLst>
      <p:ext uri="{BB962C8B-B14F-4D97-AF65-F5344CB8AC3E}">
        <p14:creationId xmlns:p14="http://schemas.microsoft.com/office/powerpoint/2010/main" val="4145147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893"/>
            <a:ext cx="16255771" cy="9142214"/>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1" y="893"/>
            <a:ext cx="16255771" cy="9142214"/>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10e04f7a98434a450322a2a657ee179.png"/>
          <p:cNvPicPr>
            <a:picLocks noChangeAspect="1"/>
          </p:cNvPicPr>
          <p:nvPr/>
        </p:nvPicPr>
        <p:blipFill>
          <a:blip r:embed="rId3"/>
          <a:srcRect l="-80" r="-80"/>
          <a:stretch/>
        </p:blipFill>
        <p:spPr>
          <a:xfrm>
            <a:off x="1019357" y="1333828"/>
            <a:ext cx="1142777" cy="47540"/>
          </a:xfrm>
          <a:prstGeom prst="rect">
            <a:avLst/>
          </a:prstGeom>
        </p:spPr>
      </p:pic>
      <p:sp>
        <p:nvSpPr>
          <p:cNvPr id="5" name="Shape 2"/>
          <p:cNvSpPr/>
          <p:nvPr/>
        </p:nvSpPr>
        <p:spPr>
          <a:xfrm>
            <a:off x="1019357" y="2553400"/>
            <a:ext cx="3542608" cy="2589989"/>
          </a:xfrm>
          <a:prstGeom prst="rect">
            <a:avLst/>
          </a:prstGeom>
          <a:solidFill>
            <a:srgbClr val="F8FAFC"/>
          </a:solidFill>
          <a:ln w="12700">
            <a:solidFill>
              <a:srgbClr val="E2E8F0"/>
            </a:solidFill>
            <a:prstDash val="solid"/>
          </a:ln>
        </p:spPr>
        <p:txBody>
          <a:bodyPr/>
          <a:lstStyle/>
          <a:p>
            <a:endParaRPr lang="en-US"/>
          </a:p>
        </p:txBody>
      </p:sp>
      <p:pic>
        <p:nvPicPr>
          <p:cNvPr id="6" name="Image 1" descr="gen-dedup-9ec1a741ed9f63f6356ec7e5bc214906.png"/>
          <p:cNvPicPr>
            <a:picLocks noChangeAspect="1"/>
          </p:cNvPicPr>
          <p:nvPr/>
        </p:nvPicPr>
        <p:blipFill>
          <a:blip r:embed="rId4"/>
          <a:srcRect l="-78" r="-78"/>
          <a:stretch/>
        </p:blipFill>
        <p:spPr>
          <a:xfrm>
            <a:off x="1019357" y="2553400"/>
            <a:ext cx="3523410" cy="47540"/>
          </a:xfrm>
          <a:prstGeom prst="rect">
            <a:avLst/>
          </a:prstGeom>
        </p:spPr>
      </p:pic>
      <p:sp>
        <p:nvSpPr>
          <p:cNvPr id="7" name="Shape 3"/>
          <p:cNvSpPr/>
          <p:nvPr/>
        </p:nvSpPr>
        <p:spPr>
          <a:xfrm>
            <a:off x="4732925" y="2553400"/>
            <a:ext cx="3542608" cy="2589989"/>
          </a:xfrm>
          <a:prstGeom prst="rect">
            <a:avLst/>
          </a:prstGeom>
          <a:solidFill>
            <a:srgbClr val="F8FAFC"/>
          </a:solidFill>
          <a:ln w="12700">
            <a:solidFill>
              <a:srgbClr val="E2E8F0"/>
            </a:solidFill>
            <a:prstDash val="solid"/>
          </a:ln>
        </p:spPr>
        <p:txBody>
          <a:bodyPr/>
          <a:lstStyle/>
          <a:p>
            <a:endParaRPr lang="en-US"/>
          </a:p>
        </p:txBody>
      </p:sp>
      <p:pic>
        <p:nvPicPr>
          <p:cNvPr id="8" name="Image 2" descr="gen-dedup-0a1e5e4cd63d04bda2e38a08dc235a24.png"/>
          <p:cNvPicPr>
            <a:picLocks noChangeAspect="1"/>
          </p:cNvPicPr>
          <p:nvPr/>
        </p:nvPicPr>
        <p:blipFill>
          <a:blip r:embed="rId5"/>
          <a:srcRect l="-78" r="-78"/>
          <a:stretch/>
        </p:blipFill>
        <p:spPr>
          <a:xfrm>
            <a:off x="4732925" y="2553400"/>
            <a:ext cx="3523410" cy="47540"/>
          </a:xfrm>
          <a:prstGeom prst="rect">
            <a:avLst/>
          </a:prstGeom>
        </p:spPr>
      </p:pic>
      <p:sp>
        <p:nvSpPr>
          <p:cNvPr id="9" name="Shape 4"/>
          <p:cNvSpPr/>
          <p:nvPr/>
        </p:nvSpPr>
        <p:spPr>
          <a:xfrm>
            <a:off x="1019357" y="5315262"/>
            <a:ext cx="3542608" cy="2589989"/>
          </a:xfrm>
          <a:prstGeom prst="rect">
            <a:avLst/>
          </a:prstGeom>
          <a:solidFill>
            <a:srgbClr val="F8FAFC"/>
          </a:solidFill>
          <a:ln w="12700">
            <a:solidFill>
              <a:srgbClr val="E2E8F0"/>
            </a:solidFill>
            <a:prstDash val="solid"/>
          </a:ln>
        </p:spPr>
        <p:txBody>
          <a:bodyPr/>
          <a:lstStyle/>
          <a:p>
            <a:endParaRPr lang="en-US"/>
          </a:p>
        </p:txBody>
      </p:sp>
      <p:pic>
        <p:nvPicPr>
          <p:cNvPr id="10" name="Image 3" descr="gen-dedup-c07f94417db07767167702a9f3e9f443.png"/>
          <p:cNvPicPr>
            <a:picLocks noChangeAspect="1"/>
          </p:cNvPicPr>
          <p:nvPr/>
        </p:nvPicPr>
        <p:blipFill>
          <a:blip r:embed="rId6"/>
          <a:srcRect l="-78" r="-78"/>
          <a:stretch/>
        </p:blipFill>
        <p:spPr>
          <a:xfrm>
            <a:off x="1019357" y="5315262"/>
            <a:ext cx="3523410" cy="47540"/>
          </a:xfrm>
          <a:prstGeom prst="rect">
            <a:avLst/>
          </a:prstGeom>
        </p:spPr>
      </p:pic>
      <p:sp>
        <p:nvSpPr>
          <p:cNvPr id="11" name="Shape 5"/>
          <p:cNvSpPr/>
          <p:nvPr/>
        </p:nvSpPr>
        <p:spPr>
          <a:xfrm>
            <a:off x="4732925" y="5315262"/>
            <a:ext cx="3542608" cy="2589989"/>
          </a:xfrm>
          <a:prstGeom prst="rect">
            <a:avLst/>
          </a:prstGeom>
          <a:solidFill>
            <a:srgbClr val="F8FAFC"/>
          </a:solidFill>
          <a:ln w="12700">
            <a:solidFill>
              <a:srgbClr val="E2E8F0"/>
            </a:solidFill>
            <a:prstDash val="solid"/>
          </a:ln>
        </p:spPr>
        <p:txBody>
          <a:bodyPr/>
          <a:lstStyle/>
          <a:p>
            <a:endParaRPr lang="en-US"/>
          </a:p>
        </p:txBody>
      </p:sp>
      <p:pic>
        <p:nvPicPr>
          <p:cNvPr id="12" name="Image 4" descr="gen-dedup-0a1e5e4cd63d04bda2e38a08dc235a24.png"/>
          <p:cNvPicPr>
            <a:picLocks noChangeAspect="1"/>
          </p:cNvPicPr>
          <p:nvPr/>
        </p:nvPicPr>
        <p:blipFill>
          <a:blip r:embed="rId5"/>
          <a:srcRect l="-78" r="-78"/>
          <a:stretch/>
        </p:blipFill>
        <p:spPr>
          <a:xfrm>
            <a:off x="4732925" y="5315262"/>
            <a:ext cx="3523410" cy="47540"/>
          </a:xfrm>
          <a:prstGeom prst="rect">
            <a:avLst/>
          </a:prstGeom>
        </p:spPr>
      </p:pic>
      <p:pic>
        <p:nvPicPr>
          <p:cNvPr id="13" name="Image 5" descr="gen-dedup-5643ab2cc538235e5aef9330ac6aca64.png"/>
          <p:cNvPicPr>
            <a:picLocks noChangeAspect="1"/>
          </p:cNvPicPr>
          <p:nvPr/>
        </p:nvPicPr>
        <p:blipFill>
          <a:blip r:embed="rId7"/>
          <a:srcRect t="-2083" b="-2083"/>
          <a:stretch/>
        </p:blipFill>
        <p:spPr>
          <a:xfrm>
            <a:off x="8637565" y="2143828"/>
            <a:ext cx="9142" cy="5742224"/>
          </a:xfrm>
          <a:prstGeom prst="rect">
            <a:avLst/>
          </a:prstGeom>
        </p:spPr>
      </p:pic>
      <p:sp>
        <p:nvSpPr>
          <p:cNvPr id="14" name="Shape 6"/>
          <p:cNvSpPr/>
          <p:nvPr/>
        </p:nvSpPr>
        <p:spPr>
          <a:xfrm>
            <a:off x="9018795" y="2553399"/>
            <a:ext cx="6237733" cy="5351853"/>
          </a:xfrm>
          <a:prstGeom prst="rect">
            <a:avLst/>
          </a:prstGeom>
          <a:solidFill>
            <a:srgbClr val="F8FAFC"/>
          </a:solidFill>
          <a:ln w="12700">
            <a:solidFill>
              <a:srgbClr val="E2E8F0"/>
            </a:solidFill>
            <a:prstDash val="solid"/>
          </a:ln>
        </p:spPr>
        <p:txBody>
          <a:bodyPr/>
          <a:lstStyle/>
          <a:p>
            <a:endParaRPr lang="en-US"/>
          </a:p>
        </p:txBody>
      </p:sp>
      <p:sp>
        <p:nvSpPr>
          <p:cNvPr id="15" name="Shape 7"/>
          <p:cNvSpPr/>
          <p:nvPr/>
        </p:nvSpPr>
        <p:spPr>
          <a:xfrm>
            <a:off x="9018796" y="2553400"/>
            <a:ext cx="6218534" cy="609786"/>
          </a:xfrm>
          <a:prstGeom prst="rect">
            <a:avLst/>
          </a:prstGeom>
          <a:solidFill>
            <a:srgbClr val="EFF6FF"/>
          </a:solidFill>
          <a:ln/>
        </p:spPr>
        <p:txBody>
          <a:bodyPr/>
          <a:lstStyle/>
          <a:p>
            <a:endParaRPr lang="en-US"/>
          </a:p>
        </p:txBody>
      </p:sp>
      <p:sp>
        <p:nvSpPr>
          <p:cNvPr id="16" name="Shape 8"/>
          <p:cNvSpPr/>
          <p:nvPr/>
        </p:nvSpPr>
        <p:spPr>
          <a:xfrm>
            <a:off x="9018796" y="3143986"/>
            <a:ext cx="6218534" cy="19198"/>
          </a:xfrm>
          <a:prstGeom prst="rect">
            <a:avLst/>
          </a:prstGeom>
          <a:solidFill>
            <a:srgbClr val="3B82F6"/>
          </a:solidFill>
          <a:ln w="12700">
            <a:solidFill>
              <a:srgbClr val="3B82F6">
                <a:alpha val="0"/>
              </a:srgbClr>
            </a:solidFill>
            <a:prstDash val="solid"/>
          </a:ln>
        </p:spPr>
        <p:txBody>
          <a:bodyPr/>
          <a:lstStyle/>
          <a:p>
            <a:endParaRPr lang="en-US"/>
          </a:p>
        </p:txBody>
      </p:sp>
      <p:pic>
        <p:nvPicPr>
          <p:cNvPr id="17" name="Image 6" descr="gen-dedup-0e9148e895d3ac699765f1a25d51be8c.png"/>
          <p:cNvPicPr>
            <a:picLocks noChangeAspect="1"/>
          </p:cNvPicPr>
          <p:nvPr/>
        </p:nvPicPr>
        <p:blipFill>
          <a:blip r:embed="rId8"/>
          <a:srcRect l="-2083" r="-2083"/>
          <a:stretch/>
        </p:blipFill>
        <p:spPr>
          <a:xfrm>
            <a:off x="1019358" y="8619259"/>
            <a:ext cx="14217972" cy="9142"/>
          </a:xfrm>
          <a:prstGeom prst="rect">
            <a:avLst/>
          </a:prstGeom>
        </p:spPr>
      </p:pic>
      <p:sp>
        <p:nvSpPr>
          <p:cNvPr id="18" name="Text 9"/>
          <p:cNvSpPr txBox="1"/>
          <p:nvPr/>
        </p:nvSpPr>
        <p:spPr>
          <a:xfrm>
            <a:off x="1019357" y="639019"/>
            <a:ext cx="13333006" cy="342833"/>
          </a:xfrm>
          <a:prstGeom prst="rect">
            <a:avLst/>
          </a:prstGeom>
          <a:noFill/>
          <a:ln/>
        </p:spPr>
        <p:txBody>
          <a:bodyPr wrap="square" lIns="0" tIns="0" rIns="0" bIns="0" rtlCol="0" anchor="ctr"/>
          <a:lstStyle/>
          <a:p>
            <a:r>
              <a:rPr lang="en-US" sz="2999" b="1" dirty="0">
                <a:solidFill>
                  <a:srgbClr val="0F172A"/>
                </a:solidFill>
                <a:latin typeface="Arial" pitchFamily="34" charset="0"/>
                <a:ea typeface="Arial" pitchFamily="34" charset="-122"/>
                <a:cs typeface="Arial" pitchFamily="34" charset="-120"/>
              </a:rPr>
              <a:t>SWOT &amp; Competitive Analysis</a:t>
            </a:r>
            <a:endParaRPr lang="en-US" sz="2999" dirty="0"/>
          </a:p>
        </p:txBody>
      </p:sp>
      <p:sp>
        <p:nvSpPr>
          <p:cNvPr id="19" name="Text 10"/>
          <p:cNvSpPr txBox="1"/>
          <p:nvPr/>
        </p:nvSpPr>
        <p:spPr>
          <a:xfrm>
            <a:off x="1019357" y="1524900"/>
            <a:ext cx="14284710" cy="219413"/>
          </a:xfrm>
          <a:prstGeom prst="rect">
            <a:avLst/>
          </a:prstGeom>
          <a:noFill/>
          <a:ln/>
        </p:spPr>
        <p:txBody>
          <a:bodyPr wrap="square" lIns="0" tIns="0" rIns="0" bIns="0" rtlCol="0" anchor="ctr"/>
          <a:lstStyle/>
          <a:p>
            <a:r>
              <a:rPr lang="en-US" sz="1500" dirty="0">
                <a:solidFill>
                  <a:srgbClr val="475569"/>
                </a:solidFill>
                <a:latin typeface="Arial" pitchFamily="34" charset="0"/>
                <a:ea typeface="Arial" pitchFamily="34" charset="-122"/>
                <a:cs typeface="Arial" pitchFamily="34" charset="-120"/>
              </a:rPr>
              <a:t>Where PROBE wins, where it needs partners, and how it compares to adjacent tools.</a:t>
            </a:r>
            <a:endParaRPr lang="en-US" sz="1500" dirty="0"/>
          </a:p>
        </p:txBody>
      </p:sp>
      <p:sp>
        <p:nvSpPr>
          <p:cNvPr id="20" name="Text 11"/>
          <p:cNvSpPr txBox="1"/>
          <p:nvPr/>
        </p:nvSpPr>
        <p:spPr>
          <a:xfrm>
            <a:off x="1019358" y="2143829"/>
            <a:ext cx="3809561" cy="143533"/>
          </a:xfrm>
          <a:prstGeom prst="rect">
            <a:avLst/>
          </a:prstGeom>
          <a:noFill/>
          <a:ln/>
        </p:spPr>
        <p:txBody>
          <a:bodyPr wrap="square" lIns="0" tIns="0" rIns="0" bIns="0" rtlCol="0" anchor="ctr"/>
          <a:lstStyle/>
          <a:p>
            <a:r>
              <a:rPr lang="en-US" sz="900" b="1" spc="215" dirty="0">
                <a:solidFill>
                  <a:srgbClr val="1E3A8A"/>
                </a:solidFill>
                <a:latin typeface="Arial" pitchFamily="34" charset="0"/>
                <a:ea typeface="Arial" pitchFamily="34" charset="-122"/>
                <a:cs typeface="Arial" pitchFamily="34" charset="-120"/>
              </a:rPr>
              <a:t>SWOT · INTERNAL / EXTERNAL</a:t>
            </a:r>
            <a:endParaRPr lang="en-US" sz="900" dirty="0"/>
          </a:p>
        </p:txBody>
      </p:sp>
      <p:sp>
        <p:nvSpPr>
          <p:cNvPr id="21" name="Text 12"/>
          <p:cNvSpPr txBox="1"/>
          <p:nvPr/>
        </p:nvSpPr>
        <p:spPr>
          <a:xfrm>
            <a:off x="1209516" y="2743558"/>
            <a:ext cx="3143093" cy="143533"/>
          </a:xfrm>
          <a:prstGeom prst="rect">
            <a:avLst/>
          </a:prstGeom>
          <a:noFill/>
          <a:ln/>
        </p:spPr>
        <p:txBody>
          <a:bodyPr wrap="square" lIns="0" tIns="0" rIns="0" bIns="0" rtlCol="0" anchor="ctr"/>
          <a:lstStyle/>
          <a:p>
            <a:r>
              <a:rPr lang="en-US" sz="900" b="1" spc="176" dirty="0">
                <a:solidFill>
                  <a:srgbClr val="3B82F6"/>
                </a:solidFill>
                <a:latin typeface="Arial" pitchFamily="34" charset="0"/>
                <a:ea typeface="Arial" pitchFamily="34" charset="-122"/>
                <a:cs typeface="Arial" pitchFamily="34" charset="-120"/>
              </a:rPr>
              <a:t>STRENGTHS</a:t>
            </a:r>
            <a:endParaRPr lang="en-US" sz="900" dirty="0"/>
          </a:p>
        </p:txBody>
      </p:sp>
      <p:sp>
        <p:nvSpPr>
          <p:cNvPr id="22" name="Text 13"/>
          <p:cNvSpPr txBox="1"/>
          <p:nvPr/>
        </p:nvSpPr>
        <p:spPr>
          <a:xfrm>
            <a:off x="1209516" y="3000453"/>
            <a:ext cx="93251" cy="200215"/>
          </a:xfrm>
          <a:prstGeom prst="rect">
            <a:avLst/>
          </a:prstGeom>
          <a:noFill/>
          <a:ln/>
        </p:spPr>
        <p:txBody>
          <a:bodyPr wrap="square" lIns="0" tIns="0" rIns="0" bIns="0" rtlCol="0" anchor="ctr"/>
          <a:lstStyle/>
          <a:p>
            <a:r>
              <a:rPr lang="en-US" sz="1000" b="1" dirty="0">
                <a:solidFill>
                  <a:srgbClr val="3B82F6"/>
                </a:solidFill>
                <a:latin typeface="Arial" pitchFamily="34" charset="0"/>
                <a:ea typeface="Arial" pitchFamily="34" charset="-122"/>
                <a:cs typeface="Arial" pitchFamily="34" charset="-120"/>
              </a:rPr>
              <a:t>▸</a:t>
            </a:r>
            <a:endParaRPr lang="en-US" sz="1000" dirty="0"/>
          </a:p>
        </p:txBody>
      </p:sp>
      <p:sp>
        <p:nvSpPr>
          <p:cNvPr id="23" name="Text 14"/>
          <p:cNvSpPr txBox="1"/>
          <p:nvPr/>
        </p:nvSpPr>
        <p:spPr>
          <a:xfrm>
            <a:off x="1364933" y="3000453"/>
            <a:ext cx="1927179" cy="200215"/>
          </a:xfrm>
          <a:prstGeom prst="rect">
            <a:avLst/>
          </a:prstGeom>
          <a:noFill/>
          <a:ln/>
        </p:spPr>
        <p:txBody>
          <a:bodyPr wrap="square" lIns="0" tIns="0" rIns="0" bIns="0" rtlCol="0" anchor="ctr"/>
          <a:lstStyle/>
          <a:p>
            <a:r>
              <a:rPr lang="en-US" sz="1000" dirty="0">
                <a:solidFill>
                  <a:srgbClr val="0F172A"/>
                </a:solidFill>
                <a:latin typeface="Arial" pitchFamily="34" charset="0"/>
                <a:ea typeface="Arial" pitchFamily="34" charset="-122"/>
                <a:cs typeface="Arial" pitchFamily="34" charset="-120"/>
              </a:rPr>
              <a:t>Executive-friendly reporting</a:t>
            </a:r>
            <a:endParaRPr lang="en-US" sz="1000" dirty="0"/>
          </a:p>
        </p:txBody>
      </p:sp>
      <p:sp>
        <p:nvSpPr>
          <p:cNvPr id="24" name="Text 15"/>
          <p:cNvSpPr txBox="1"/>
          <p:nvPr/>
        </p:nvSpPr>
        <p:spPr>
          <a:xfrm>
            <a:off x="1209516" y="3276548"/>
            <a:ext cx="93251" cy="200215"/>
          </a:xfrm>
          <a:prstGeom prst="rect">
            <a:avLst/>
          </a:prstGeom>
          <a:noFill/>
          <a:ln/>
        </p:spPr>
        <p:txBody>
          <a:bodyPr wrap="square" lIns="0" tIns="0" rIns="0" bIns="0" rtlCol="0" anchor="ctr"/>
          <a:lstStyle/>
          <a:p>
            <a:r>
              <a:rPr lang="en-US" sz="1000" b="1" dirty="0">
                <a:solidFill>
                  <a:srgbClr val="3B82F6"/>
                </a:solidFill>
                <a:latin typeface="Arial" pitchFamily="34" charset="0"/>
                <a:ea typeface="Arial" pitchFamily="34" charset="-122"/>
                <a:cs typeface="Arial" pitchFamily="34" charset="-120"/>
              </a:rPr>
              <a:t>▸</a:t>
            </a:r>
            <a:endParaRPr lang="en-US" sz="1000" dirty="0"/>
          </a:p>
        </p:txBody>
      </p:sp>
      <p:sp>
        <p:nvSpPr>
          <p:cNvPr id="25" name="Text 16"/>
          <p:cNvSpPr txBox="1"/>
          <p:nvPr/>
        </p:nvSpPr>
        <p:spPr>
          <a:xfrm>
            <a:off x="1364933" y="3276548"/>
            <a:ext cx="2108194" cy="200215"/>
          </a:xfrm>
          <a:prstGeom prst="rect">
            <a:avLst/>
          </a:prstGeom>
          <a:noFill/>
          <a:ln/>
        </p:spPr>
        <p:txBody>
          <a:bodyPr wrap="square" lIns="0" tIns="0" rIns="0" bIns="0" rtlCol="0" anchor="ctr"/>
          <a:lstStyle/>
          <a:p>
            <a:r>
              <a:rPr lang="en-US" sz="1000" dirty="0">
                <a:solidFill>
                  <a:srgbClr val="0F172A"/>
                </a:solidFill>
                <a:latin typeface="Arial" pitchFamily="34" charset="0"/>
                <a:ea typeface="Arial" pitchFamily="34" charset="-122"/>
                <a:cs typeface="Arial" pitchFamily="34" charset="-120"/>
              </a:rPr>
              <a:t>Lightweight and fast to deploy</a:t>
            </a:r>
            <a:endParaRPr lang="en-US" sz="1000" dirty="0"/>
          </a:p>
        </p:txBody>
      </p:sp>
      <p:sp>
        <p:nvSpPr>
          <p:cNvPr id="26" name="Text 17"/>
          <p:cNvSpPr txBox="1"/>
          <p:nvPr/>
        </p:nvSpPr>
        <p:spPr>
          <a:xfrm>
            <a:off x="1209516" y="3552643"/>
            <a:ext cx="93251" cy="200215"/>
          </a:xfrm>
          <a:prstGeom prst="rect">
            <a:avLst/>
          </a:prstGeom>
          <a:noFill/>
          <a:ln/>
        </p:spPr>
        <p:txBody>
          <a:bodyPr wrap="square" lIns="0" tIns="0" rIns="0" bIns="0" rtlCol="0" anchor="ctr"/>
          <a:lstStyle/>
          <a:p>
            <a:r>
              <a:rPr lang="en-US" sz="1000" b="1" dirty="0">
                <a:solidFill>
                  <a:srgbClr val="3B82F6"/>
                </a:solidFill>
                <a:latin typeface="Arial" pitchFamily="34" charset="0"/>
                <a:ea typeface="Arial" pitchFamily="34" charset="-122"/>
                <a:cs typeface="Arial" pitchFamily="34" charset="-120"/>
              </a:rPr>
              <a:t>▸</a:t>
            </a:r>
            <a:endParaRPr lang="en-US" sz="1000" dirty="0"/>
          </a:p>
        </p:txBody>
      </p:sp>
      <p:sp>
        <p:nvSpPr>
          <p:cNvPr id="27" name="Text 18"/>
          <p:cNvSpPr txBox="1"/>
          <p:nvPr/>
        </p:nvSpPr>
        <p:spPr>
          <a:xfrm>
            <a:off x="1364933" y="3552643"/>
            <a:ext cx="2221558" cy="200215"/>
          </a:xfrm>
          <a:prstGeom prst="rect">
            <a:avLst/>
          </a:prstGeom>
          <a:noFill/>
          <a:ln/>
        </p:spPr>
        <p:txBody>
          <a:bodyPr wrap="square" lIns="0" tIns="0" rIns="0" bIns="0" rtlCol="0" anchor="ctr"/>
          <a:lstStyle/>
          <a:p>
            <a:r>
              <a:rPr lang="en-US" sz="1000" dirty="0">
                <a:solidFill>
                  <a:srgbClr val="0F172A"/>
                </a:solidFill>
                <a:latin typeface="Arial" pitchFamily="34" charset="0"/>
                <a:ea typeface="Arial" pitchFamily="34" charset="-122"/>
                <a:cs typeface="Arial" pitchFamily="34" charset="-120"/>
              </a:rPr>
              <a:t>Safe, non-intrusive assessment</a:t>
            </a:r>
            <a:endParaRPr lang="en-US" sz="1000" dirty="0"/>
          </a:p>
        </p:txBody>
      </p:sp>
      <p:sp>
        <p:nvSpPr>
          <p:cNvPr id="28" name="Text 19"/>
          <p:cNvSpPr txBox="1"/>
          <p:nvPr/>
        </p:nvSpPr>
        <p:spPr>
          <a:xfrm>
            <a:off x="1209516" y="3829652"/>
            <a:ext cx="93251" cy="200215"/>
          </a:xfrm>
          <a:prstGeom prst="rect">
            <a:avLst/>
          </a:prstGeom>
          <a:noFill/>
          <a:ln/>
        </p:spPr>
        <p:txBody>
          <a:bodyPr wrap="square" lIns="0" tIns="0" rIns="0" bIns="0" rtlCol="0" anchor="ctr"/>
          <a:lstStyle/>
          <a:p>
            <a:r>
              <a:rPr lang="en-US" sz="1000" b="1" dirty="0">
                <a:solidFill>
                  <a:srgbClr val="3B82F6"/>
                </a:solidFill>
                <a:latin typeface="Arial" pitchFamily="34" charset="0"/>
                <a:ea typeface="Arial" pitchFamily="34" charset="-122"/>
                <a:cs typeface="Arial" pitchFamily="34" charset="-120"/>
              </a:rPr>
              <a:t>▸</a:t>
            </a:r>
            <a:endParaRPr lang="en-US" sz="1000" dirty="0"/>
          </a:p>
        </p:txBody>
      </p:sp>
      <p:sp>
        <p:nvSpPr>
          <p:cNvPr id="29" name="Text 20"/>
          <p:cNvSpPr txBox="1"/>
          <p:nvPr/>
        </p:nvSpPr>
        <p:spPr>
          <a:xfrm>
            <a:off x="1364933" y="3829652"/>
            <a:ext cx="2164876" cy="200215"/>
          </a:xfrm>
          <a:prstGeom prst="rect">
            <a:avLst/>
          </a:prstGeom>
          <a:noFill/>
          <a:ln/>
        </p:spPr>
        <p:txBody>
          <a:bodyPr wrap="square" lIns="0" tIns="0" rIns="0" bIns="0" rtlCol="0" anchor="ctr"/>
          <a:lstStyle/>
          <a:p>
            <a:r>
              <a:rPr lang="en-US" sz="1000" dirty="0">
                <a:solidFill>
                  <a:srgbClr val="0F172A"/>
                </a:solidFill>
                <a:latin typeface="Arial" pitchFamily="34" charset="0"/>
                <a:ea typeface="Arial" pitchFamily="34" charset="-122"/>
                <a:cs typeface="Arial" pitchFamily="34" charset="-120"/>
              </a:rPr>
              <a:t>Authentication surface visibility</a:t>
            </a:r>
            <a:endParaRPr lang="en-US" sz="1000" dirty="0"/>
          </a:p>
        </p:txBody>
      </p:sp>
      <p:sp>
        <p:nvSpPr>
          <p:cNvPr id="30" name="Text 21"/>
          <p:cNvSpPr txBox="1"/>
          <p:nvPr/>
        </p:nvSpPr>
        <p:spPr>
          <a:xfrm>
            <a:off x="1209516" y="4105747"/>
            <a:ext cx="93251" cy="200215"/>
          </a:xfrm>
          <a:prstGeom prst="rect">
            <a:avLst/>
          </a:prstGeom>
          <a:noFill/>
          <a:ln/>
        </p:spPr>
        <p:txBody>
          <a:bodyPr wrap="square" lIns="0" tIns="0" rIns="0" bIns="0" rtlCol="0" anchor="ctr"/>
          <a:lstStyle/>
          <a:p>
            <a:r>
              <a:rPr lang="en-US" sz="1000" b="1" dirty="0">
                <a:solidFill>
                  <a:srgbClr val="3B82F6"/>
                </a:solidFill>
                <a:latin typeface="Arial" pitchFamily="34" charset="0"/>
                <a:ea typeface="Arial" pitchFamily="34" charset="-122"/>
                <a:cs typeface="Arial" pitchFamily="34" charset="-120"/>
              </a:rPr>
              <a:t>▸</a:t>
            </a:r>
            <a:endParaRPr lang="en-US" sz="1000" dirty="0"/>
          </a:p>
        </p:txBody>
      </p:sp>
      <p:sp>
        <p:nvSpPr>
          <p:cNvPr id="31" name="Text 22"/>
          <p:cNvSpPr txBox="1"/>
          <p:nvPr/>
        </p:nvSpPr>
        <p:spPr>
          <a:xfrm>
            <a:off x="1364933" y="4105747"/>
            <a:ext cx="2867913" cy="200215"/>
          </a:xfrm>
          <a:prstGeom prst="rect">
            <a:avLst/>
          </a:prstGeom>
          <a:noFill/>
          <a:ln/>
        </p:spPr>
        <p:txBody>
          <a:bodyPr wrap="square" lIns="0" tIns="0" rIns="0" bIns="0" rtlCol="0" anchor="ctr"/>
          <a:lstStyle/>
          <a:p>
            <a:r>
              <a:rPr lang="en-US" sz="1000" dirty="0">
                <a:solidFill>
                  <a:srgbClr val="0F172A"/>
                </a:solidFill>
                <a:latin typeface="Arial" pitchFamily="34" charset="0"/>
                <a:ea typeface="Arial" pitchFamily="34" charset="-122"/>
                <a:cs typeface="Arial" pitchFamily="34" charset="-120"/>
              </a:rPr>
              <a:t>Detects exposed login and admin portals</a:t>
            </a:r>
            <a:endParaRPr lang="en-US" sz="1000" dirty="0"/>
          </a:p>
        </p:txBody>
      </p:sp>
      <p:sp>
        <p:nvSpPr>
          <p:cNvPr id="32" name="Text 23"/>
          <p:cNvSpPr txBox="1"/>
          <p:nvPr/>
        </p:nvSpPr>
        <p:spPr>
          <a:xfrm>
            <a:off x="4923084" y="2743558"/>
            <a:ext cx="3143093" cy="143533"/>
          </a:xfrm>
          <a:prstGeom prst="rect">
            <a:avLst/>
          </a:prstGeom>
          <a:noFill/>
          <a:ln/>
        </p:spPr>
        <p:txBody>
          <a:bodyPr wrap="square" lIns="0" tIns="0" rIns="0" bIns="0" rtlCol="0" anchor="ctr"/>
          <a:lstStyle/>
          <a:p>
            <a:r>
              <a:rPr lang="en-US" sz="900" b="1" spc="176" dirty="0">
                <a:solidFill>
                  <a:srgbClr val="475569"/>
                </a:solidFill>
                <a:latin typeface="Arial" pitchFamily="34" charset="0"/>
                <a:ea typeface="Arial" pitchFamily="34" charset="-122"/>
                <a:cs typeface="Arial" pitchFamily="34" charset="-120"/>
              </a:rPr>
              <a:t>WEAKNESSES</a:t>
            </a:r>
            <a:endParaRPr lang="en-US" sz="900" dirty="0"/>
          </a:p>
        </p:txBody>
      </p:sp>
      <p:sp>
        <p:nvSpPr>
          <p:cNvPr id="33" name="Text 24"/>
          <p:cNvSpPr txBox="1"/>
          <p:nvPr/>
        </p:nvSpPr>
        <p:spPr>
          <a:xfrm>
            <a:off x="4923084" y="3019652"/>
            <a:ext cx="79537" cy="228555"/>
          </a:xfrm>
          <a:prstGeom prst="rect">
            <a:avLst/>
          </a:prstGeom>
          <a:noFill/>
          <a:ln/>
        </p:spPr>
        <p:txBody>
          <a:bodyPr wrap="square" lIns="0" tIns="0" rIns="0" bIns="0" rtlCol="0" anchor="ctr"/>
          <a:lstStyle/>
          <a:p>
            <a:r>
              <a:rPr lang="en-US" sz="1100" b="1" dirty="0">
                <a:solidFill>
                  <a:srgbClr val="94A3B8"/>
                </a:solidFill>
                <a:latin typeface="Arial" pitchFamily="34" charset="0"/>
                <a:ea typeface="Arial" pitchFamily="34" charset="-122"/>
                <a:cs typeface="Arial" pitchFamily="34" charset="-120"/>
              </a:rPr>
              <a:t>▸</a:t>
            </a:r>
            <a:endParaRPr lang="en-US" sz="1100" dirty="0"/>
          </a:p>
        </p:txBody>
      </p:sp>
      <p:sp>
        <p:nvSpPr>
          <p:cNvPr id="34" name="Text 25"/>
          <p:cNvSpPr txBox="1"/>
          <p:nvPr/>
        </p:nvSpPr>
        <p:spPr>
          <a:xfrm>
            <a:off x="5083071" y="3019652"/>
            <a:ext cx="1983861" cy="228555"/>
          </a:xfrm>
          <a:prstGeom prst="rect">
            <a:avLst/>
          </a:prstGeom>
          <a:noFill/>
          <a:ln/>
        </p:spPr>
        <p:txBody>
          <a:bodyPr wrap="square" lIns="0" tIns="0" rIns="0" bIns="0" rtlCol="0" anchor="ctr"/>
          <a:lstStyle/>
          <a:p>
            <a:r>
              <a:rPr lang="en-US" sz="1100" dirty="0">
                <a:solidFill>
                  <a:srgbClr val="0F172A"/>
                </a:solidFill>
                <a:latin typeface="Arial" pitchFamily="34" charset="0"/>
                <a:ea typeface="Arial" pitchFamily="34" charset="-122"/>
                <a:cs typeface="Arial" pitchFamily="34" charset="-120"/>
              </a:rPr>
              <a:t>Not continuous monitoring</a:t>
            </a:r>
            <a:endParaRPr lang="en-US" sz="1100" dirty="0"/>
          </a:p>
        </p:txBody>
      </p:sp>
      <p:sp>
        <p:nvSpPr>
          <p:cNvPr id="35" name="Text 26"/>
          <p:cNvSpPr txBox="1"/>
          <p:nvPr/>
        </p:nvSpPr>
        <p:spPr>
          <a:xfrm>
            <a:off x="4923084" y="3335973"/>
            <a:ext cx="79537" cy="228555"/>
          </a:xfrm>
          <a:prstGeom prst="rect">
            <a:avLst/>
          </a:prstGeom>
          <a:noFill/>
          <a:ln/>
        </p:spPr>
        <p:txBody>
          <a:bodyPr wrap="square" lIns="0" tIns="0" rIns="0" bIns="0" rtlCol="0" anchor="ctr"/>
          <a:lstStyle/>
          <a:p>
            <a:r>
              <a:rPr lang="en-US" sz="1100" b="1" dirty="0">
                <a:solidFill>
                  <a:srgbClr val="94A3B8"/>
                </a:solidFill>
                <a:latin typeface="Arial" pitchFamily="34" charset="0"/>
                <a:ea typeface="Arial" pitchFamily="34" charset="-122"/>
                <a:cs typeface="Arial" pitchFamily="34" charset="-120"/>
              </a:rPr>
              <a:t>▸</a:t>
            </a:r>
            <a:endParaRPr lang="en-US" sz="1100" dirty="0"/>
          </a:p>
        </p:txBody>
      </p:sp>
      <p:sp>
        <p:nvSpPr>
          <p:cNvPr id="36" name="Text 27"/>
          <p:cNvSpPr txBox="1"/>
          <p:nvPr/>
        </p:nvSpPr>
        <p:spPr>
          <a:xfrm>
            <a:off x="5083072" y="3335973"/>
            <a:ext cx="1790960" cy="228555"/>
          </a:xfrm>
          <a:prstGeom prst="rect">
            <a:avLst/>
          </a:prstGeom>
          <a:noFill/>
          <a:ln/>
        </p:spPr>
        <p:txBody>
          <a:bodyPr wrap="square" lIns="0" tIns="0" rIns="0" bIns="0" rtlCol="0" anchor="ctr"/>
          <a:lstStyle/>
          <a:p>
            <a:r>
              <a:rPr lang="en-US" sz="1100" dirty="0">
                <a:solidFill>
                  <a:srgbClr val="0F172A"/>
                </a:solidFill>
                <a:latin typeface="Arial" pitchFamily="34" charset="0"/>
                <a:ea typeface="Arial" pitchFamily="34" charset="-122"/>
                <a:cs typeface="Arial" pitchFamily="34" charset="-120"/>
              </a:rPr>
              <a:t>Limited internal visibility</a:t>
            </a:r>
            <a:endParaRPr lang="en-US" sz="1100" dirty="0"/>
          </a:p>
        </p:txBody>
      </p:sp>
      <p:sp>
        <p:nvSpPr>
          <p:cNvPr id="37" name="Text 28"/>
          <p:cNvSpPr txBox="1"/>
          <p:nvPr/>
        </p:nvSpPr>
        <p:spPr>
          <a:xfrm>
            <a:off x="1209516" y="5505420"/>
            <a:ext cx="3143093" cy="143533"/>
          </a:xfrm>
          <a:prstGeom prst="rect">
            <a:avLst/>
          </a:prstGeom>
          <a:noFill/>
          <a:ln/>
        </p:spPr>
        <p:txBody>
          <a:bodyPr wrap="square" lIns="0" tIns="0" rIns="0" bIns="0" rtlCol="0" anchor="ctr"/>
          <a:lstStyle/>
          <a:p>
            <a:r>
              <a:rPr lang="en-US" sz="900" b="1" spc="176" dirty="0">
                <a:solidFill>
                  <a:srgbClr val="1E3A8A"/>
                </a:solidFill>
                <a:latin typeface="Arial" pitchFamily="34" charset="0"/>
                <a:ea typeface="Arial" pitchFamily="34" charset="-122"/>
                <a:cs typeface="Arial" pitchFamily="34" charset="-120"/>
              </a:rPr>
              <a:t>OPPORTUNITIES</a:t>
            </a:r>
            <a:endParaRPr lang="en-US" sz="900" dirty="0"/>
          </a:p>
        </p:txBody>
      </p:sp>
      <p:sp>
        <p:nvSpPr>
          <p:cNvPr id="38" name="Text 29"/>
          <p:cNvSpPr txBox="1"/>
          <p:nvPr/>
        </p:nvSpPr>
        <p:spPr>
          <a:xfrm>
            <a:off x="1209516" y="5781515"/>
            <a:ext cx="79537" cy="228555"/>
          </a:xfrm>
          <a:prstGeom prst="rect">
            <a:avLst/>
          </a:prstGeom>
          <a:noFill/>
          <a:ln/>
        </p:spPr>
        <p:txBody>
          <a:bodyPr wrap="square" lIns="0" tIns="0" rIns="0" bIns="0" rtlCol="0" anchor="ctr"/>
          <a:lstStyle/>
          <a:p>
            <a:r>
              <a:rPr lang="en-US" sz="1100" b="1" dirty="0">
                <a:solidFill>
                  <a:srgbClr val="1E3A8A"/>
                </a:solidFill>
                <a:latin typeface="Arial" pitchFamily="34" charset="0"/>
                <a:ea typeface="Arial" pitchFamily="34" charset="-122"/>
                <a:cs typeface="Arial" pitchFamily="34" charset="-120"/>
              </a:rPr>
              <a:t>▸</a:t>
            </a:r>
            <a:endParaRPr lang="en-US" sz="1100" dirty="0"/>
          </a:p>
        </p:txBody>
      </p:sp>
      <p:sp>
        <p:nvSpPr>
          <p:cNvPr id="39" name="Text 30"/>
          <p:cNvSpPr txBox="1"/>
          <p:nvPr/>
        </p:nvSpPr>
        <p:spPr>
          <a:xfrm>
            <a:off x="1369504" y="5781515"/>
            <a:ext cx="2958420" cy="228555"/>
          </a:xfrm>
          <a:prstGeom prst="rect">
            <a:avLst/>
          </a:prstGeom>
          <a:noFill/>
          <a:ln/>
        </p:spPr>
        <p:txBody>
          <a:bodyPr wrap="square" lIns="0" tIns="0" rIns="0" bIns="0" rtlCol="0" anchor="ctr"/>
          <a:lstStyle/>
          <a:p>
            <a:r>
              <a:rPr lang="en-US" sz="1100" dirty="0">
                <a:solidFill>
                  <a:srgbClr val="0F172A"/>
                </a:solidFill>
                <a:latin typeface="Arial" pitchFamily="34" charset="0"/>
                <a:ea typeface="Arial" pitchFamily="34" charset="-122"/>
                <a:cs typeface="Arial" pitchFamily="34" charset="-120"/>
              </a:rPr>
              <a:t>Growing demand for cyber risk visibility</a:t>
            </a:r>
            <a:endParaRPr lang="en-US" sz="1100" dirty="0"/>
          </a:p>
        </p:txBody>
      </p:sp>
      <p:sp>
        <p:nvSpPr>
          <p:cNvPr id="40" name="Text 31"/>
          <p:cNvSpPr txBox="1"/>
          <p:nvPr/>
        </p:nvSpPr>
        <p:spPr>
          <a:xfrm>
            <a:off x="1209516" y="6097836"/>
            <a:ext cx="79537" cy="228555"/>
          </a:xfrm>
          <a:prstGeom prst="rect">
            <a:avLst/>
          </a:prstGeom>
          <a:noFill/>
          <a:ln/>
        </p:spPr>
        <p:txBody>
          <a:bodyPr wrap="square" lIns="0" tIns="0" rIns="0" bIns="0" rtlCol="0" anchor="ctr"/>
          <a:lstStyle/>
          <a:p>
            <a:r>
              <a:rPr lang="en-US" sz="1100" b="1" dirty="0">
                <a:solidFill>
                  <a:srgbClr val="1E3A8A"/>
                </a:solidFill>
                <a:latin typeface="Arial" pitchFamily="34" charset="0"/>
                <a:ea typeface="Arial" pitchFamily="34" charset="-122"/>
                <a:cs typeface="Arial" pitchFamily="34" charset="-120"/>
              </a:rPr>
              <a:t>▸</a:t>
            </a:r>
            <a:endParaRPr lang="en-US" sz="1100" dirty="0"/>
          </a:p>
        </p:txBody>
      </p:sp>
      <p:sp>
        <p:nvSpPr>
          <p:cNvPr id="41" name="Text 32"/>
          <p:cNvSpPr txBox="1"/>
          <p:nvPr/>
        </p:nvSpPr>
        <p:spPr>
          <a:xfrm>
            <a:off x="1369504" y="6097836"/>
            <a:ext cx="2924595" cy="228555"/>
          </a:xfrm>
          <a:prstGeom prst="rect">
            <a:avLst/>
          </a:prstGeom>
          <a:noFill/>
          <a:ln/>
        </p:spPr>
        <p:txBody>
          <a:bodyPr wrap="square" lIns="0" tIns="0" rIns="0" bIns="0" rtlCol="0" anchor="ctr"/>
          <a:lstStyle/>
          <a:p>
            <a:r>
              <a:rPr lang="en-US" sz="1100" dirty="0">
                <a:solidFill>
                  <a:srgbClr val="0F172A"/>
                </a:solidFill>
                <a:latin typeface="Arial" pitchFamily="34" charset="0"/>
                <a:ea typeface="Arial" pitchFamily="34" charset="-122"/>
                <a:cs typeface="Arial" pitchFamily="34" charset="-120"/>
              </a:rPr>
              <a:t>Board and compliance reporting needs</a:t>
            </a:r>
            <a:endParaRPr lang="en-US" sz="1100" dirty="0"/>
          </a:p>
        </p:txBody>
      </p:sp>
      <p:sp>
        <p:nvSpPr>
          <p:cNvPr id="42" name="Text 33"/>
          <p:cNvSpPr txBox="1"/>
          <p:nvPr/>
        </p:nvSpPr>
        <p:spPr>
          <a:xfrm>
            <a:off x="4923084" y="5505420"/>
            <a:ext cx="3143093" cy="143533"/>
          </a:xfrm>
          <a:prstGeom prst="rect">
            <a:avLst/>
          </a:prstGeom>
          <a:noFill/>
          <a:ln/>
        </p:spPr>
        <p:txBody>
          <a:bodyPr wrap="square" lIns="0" tIns="0" rIns="0" bIns="0" rtlCol="0" anchor="ctr"/>
          <a:lstStyle/>
          <a:p>
            <a:r>
              <a:rPr lang="en-US" sz="900" b="1" spc="176" dirty="0">
                <a:solidFill>
                  <a:srgbClr val="475569"/>
                </a:solidFill>
                <a:latin typeface="Arial" pitchFamily="34" charset="0"/>
                <a:ea typeface="Arial" pitchFamily="34" charset="-122"/>
                <a:cs typeface="Arial" pitchFamily="34" charset="-120"/>
              </a:rPr>
              <a:t>THREATS</a:t>
            </a:r>
            <a:endParaRPr lang="en-US" sz="900" dirty="0"/>
          </a:p>
        </p:txBody>
      </p:sp>
      <p:sp>
        <p:nvSpPr>
          <p:cNvPr id="43" name="Text 34"/>
          <p:cNvSpPr txBox="1"/>
          <p:nvPr/>
        </p:nvSpPr>
        <p:spPr>
          <a:xfrm>
            <a:off x="4923084" y="5781515"/>
            <a:ext cx="79537" cy="228555"/>
          </a:xfrm>
          <a:prstGeom prst="rect">
            <a:avLst/>
          </a:prstGeom>
          <a:noFill/>
          <a:ln/>
        </p:spPr>
        <p:txBody>
          <a:bodyPr wrap="square" lIns="0" tIns="0" rIns="0" bIns="0" rtlCol="0" anchor="ctr"/>
          <a:lstStyle/>
          <a:p>
            <a:r>
              <a:rPr lang="en-US" sz="1100" b="1" dirty="0">
                <a:solidFill>
                  <a:srgbClr val="94A3B8"/>
                </a:solidFill>
                <a:latin typeface="Arial" pitchFamily="34" charset="0"/>
                <a:ea typeface="Arial" pitchFamily="34" charset="-122"/>
                <a:cs typeface="Arial" pitchFamily="34" charset="-120"/>
              </a:rPr>
              <a:t>▸</a:t>
            </a:r>
            <a:endParaRPr lang="en-US" sz="1100" dirty="0"/>
          </a:p>
        </p:txBody>
      </p:sp>
      <p:sp>
        <p:nvSpPr>
          <p:cNvPr id="44" name="Text 35"/>
          <p:cNvSpPr txBox="1"/>
          <p:nvPr/>
        </p:nvSpPr>
        <p:spPr>
          <a:xfrm>
            <a:off x="5083072" y="5781515"/>
            <a:ext cx="2108194" cy="228555"/>
          </a:xfrm>
          <a:prstGeom prst="rect">
            <a:avLst/>
          </a:prstGeom>
          <a:noFill/>
          <a:ln/>
        </p:spPr>
        <p:txBody>
          <a:bodyPr wrap="square" lIns="0" tIns="0" rIns="0" bIns="0" rtlCol="0" anchor="ctr"/>
          <a:lstStyle/>
          <a:p>
            <a:r>
              <a:rPr lang="en-US" sz="1100" dirty="0">
                <a:solidFill>
                  <a:srgbClr val="0F172A"/>
                </a:solidFill>
                <a:latin typeface="Arial" pitchFamily="34" charset="0"/>
                <a:ea typeface="Arial" pitchFamily="34" charset="-122"/>
                <a:cs typeface="Arial" pitchFamily="34" charset="-120"/>
              </a:rPr>
              <a:t>Enterprise ASM competitors</a:t>
            </a:r>
            <a:endParaRPr lang="en-US" sz="1100" dirty="0"/>
          </a:p>
        </p:txBody>
      </p:sp>
      <p:sp>
        <p:nvSpPr>
          <p:cNvPr id="45" name="Text 36"/>
          <p:cNvSpPr txBox="1"/>
          <p:nvPr/>
        </p:nvSpPr>
        <p:spPr>
          <a:xfrm>
            <a:off x="4923084" y="6097836"/>
            <a:ext cx="79537" cy="228555"/>
          </a:xfrm>
          <a:prstGeom prst="rect">
            <a:avLst/>
          </a:prstGeom>
          <a:noFill/>
          <a:ln/>
        </p:spPr>
        <p:txBody>
          <a:bodyPr wrap="square" lIns="0" tIns="0" rIns="0" bIns="0" rtlCol="0" anchor="ctr"/>
          <a:lstStyle/>
          <a:p>
            <a:r>
              <a:rPr lang="en-US" sz="1100" b="1" dirty="0">
                <a:solidFill>
                  <a:srgbClr val="94A3B8"/>
                </a:solidFill>
                <a:latin typeface="Arial" pitchFamily="34" charset="0"/>
                <a:ea typeface="Arial" pitchFamily="34" charset="-122"/>
                <a:cs typeface="Arial" pitchFamily="34" charset="-120"/>
              </a:rPr>
              <a:t>▸</a:t>
            </a:r>
            <a:endParaRPr lang="en-US" sz="1100" dirty="0"/>
          </a:p>
        </p:txBody>
      </p:sp>
      <p:sp>
        <p:nvSpPr>
          <p:cNvPr id="46" name="Text 37"/>
          <p:cNvSpPr txBox="1"/>
          <p:nvPr/>
        </p:nvSpPr>
        <p:spPr>
          <a:xfrm>
            <a:off x="5083072" y="6097836"/>
            <a:ext cx="2345892" cy="228555"/>
          </a:xfrm>
          <a:prstGeom prst="rect">
            <a:avLst/>
          </a:prstGeom>
          <a:noFill/>
          <a:ln/>
        </p:spPr>
        <p:txBody>
          <a:bodyPr wrap="square" lIns="0" tIns="0" rIns="0" bIns="0" rtlCol="0" anchor="ctr"/>
          <a:lstStyle/>
          <a:p>
            <a:r>
              <a:rPr lang="en-US" sz="1100" dirty="0">
                <a:solidFill>
                  <a:srgbClr val="0F172A"/>
                </a:solidFill>
                <a:latin typeface="Arial" pitchFamily="34" charset="0"/>
                <a:ea typeface="Arial" pitchFamily="34" charset="-122"/>
                <a:cs typeface="Arial" pitchFamily="34" charset="-120"/>
              </a:rPr>
              <a:t>Rapidly evolving attack surface</a:t>
            </a:r>
            <a:endParaRPr lang="en-US" sz="1100" dirty="0"/>
          </a:p>
        </p:txBody>
      </p:sp>
      <p:sp>
        <p:nvSpPr>
          <p:cNvPr id="47" name="Text 38"/>
          <p:cNvSpPr txBox="1"/>
          <p:nvPr/>
        </p:nvSpPr>
        <p:spPr>
          <a:xfrm>
            <a:off x="9018795" y="2143829"/>
            <a:ext cx="6190193" cy="143533"/>
          </a:xfrm>
          <a:prstGeom prst="rect">
            <a:avLst/>
          </a:prstGeom>
          <a:noFill/>
          <a:ln/>
        </p:spPr>
        <p:txBody>
          <a:bodyPr wrap="square" lIns="0" tIns="0" rIns="0" bIns="0" rtlCol="0" anchor="ctr"/>
          <a:lstStyle/>
          <a:p>
            <a:r>
              <a:rPr lang="en-US" sz="900" b="1" spc="215" dirty="0">
                <a:solidFill>
                  <a:srgbClr val="1E3A8A"/>
                </a:solidFill>
                <a:latin typeface="Arial" pitchFamily="34" charset="0"/>
                <a:ea typeface="Arial" pitchFamily="34" charset="-122"/>
                <a:cs typeface="Arial" pitchFamily="34" charset="-120"/>
              </a:rPr>
              <a:t>COMPETITIVE ANALYSIS · CAPABILITY MATRIX</a:t>
            </a:r>
            <a:endParaRPr lang="en-US" sz="900" dirty="0"/>
          </a:p>
        </p:txBody>
      </p:sp>
      <p:graphicFrame>
        <p:nvGraphicFramePr>
          <p:cNvPr id="48" name="Table 0"/>
          <p:cNvGraphicFramePr>
            <a:graphicFrameLocks noGrp="1"/>
          </p:cNvGraphicFramePr>
          <p:nvPr>
            <p:extLst>
              <p:ext uri="{D42A27DB-BD31-4B8C-83A1-F6EECF244321}">
                <p14:modId xmlns:p14="http://schemas.microsoft.com/office/powerpoint/2010/main" val="3913708017"/>
              </p:ext>
            </p:extLst>
          </p:nvPr>
        </p:nvGraphicFramePr>
        <p:xfrm>
          <a:off x="9208953" y="2553400"/>
          <a:ext cx="5837304" cy="5275970"/>
        </p:xfrm>
        <a:graphic>
          <a:graphicData uri="http://schemas.openxmlformats.org/drawingml/2006/table">
            <a:tbl>
              <a:tblPr/>
              <a:tblGrid>
                <a:gridCol w="2949278">
                  <a:extLst>
                    <a:ext uri="{9D8B030D-6E8A-4147-A177-3AD203B41FA5}">
                      <a16:colId xmlns:a16="http://schemas.microsoft.com/office/drawing/2014/main" val="20000"/>
                    </a:ext>
                  </a:extLst>
                </a:gridCol>
                <a:gridCol w="680181">
                  <a:extLst>
                    <a:ext uri="{9D8B030D-6E8A-4147-A177-3AD203B41FA5}">
                      <a16:colId xmlns:a16="http://schemas.microsoft.com/office/drawing/2014/main" val="20001"/>
                    </a:ext>
                  </a:extLst>
                </a:gridCol>
                <a:gridCol w="1302766">
                  <a:extLst>
                    <a:ext uri="{9D8B030D-6E8A-4147-A177-3AD203B41FA5}">
                      <a16:colId xmlns:a16="http://schemas.microsoft.com/office/drawing/2014/main" val="20002"/>
                    </a:ext>
                  </a:extLst>
                </a:gridCol>
                <a:gridCol w="905079">
                  <a:extLst>
                    <a:ext uri="{9D8B030D-6E8A-4147-A177-3AD203B41FA5}">
                      <a16:colId xmlns:a16="http://schemas.microsoft.com/office/drawing/2014/main" val="20003"/>
                    </a:ext>
                  </a:extLst>
                </a:gridCol>
              </a:tblGrid>
              <a:tr h="753710">
                <a:tc>
                  <a:txBody>
                    <a:bodyPr/>
                    <a:lstStyle/>
                    <a:p>
                      <a:pPr marL="0" indent="0" algn="l">
                        <a:buNone/>
                      </a:pPr>
                      <a:r>
                        <a:rPr lang="en-US" sz="900" b="1" dirty="0">
                          <a:solidFill>
                            <a:srgbClr val="475569"/>
                          </a:solidFill>
                          <a:latin typeface="Arial" pitchFamily="34" charset="0"/>
                          <a:ea typeface="Arial" pitchFamily="34" charset="-122"/>
                          <a:cs typeface="Arial" pitchFamily="34" charset="-120"/>
                        </a:rPr>
                        <a:t>CAPABILITY</a:t>
                      </a:r>
                      <a:endParaRPr lang="en-US" sz="900" dirty="0">
                        <a:latin typeface="Arial" charset="0"/>
                        <a:ea typeface="Arial" charset="0"/>
                        <a:cs typeface="Arial" charset="0"/>
                      </a:endParaRPr>
                    </a:p>
                  </a:txBody>
                  <a:tcPr marL="9142" marR="114278"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100" b="1" dirty="0">
                          <a:solidFill>
                            <a:srgbClr val="1E3A8A"/>
                          </a:solidFill>
                          <a:latin typeface="Arial" pitchFamily="34" charset="0"/>
                          <a:ea typeface="Arial" pitchFamily="34" charset="-122"/>
                          <a:cs typeface="Arial" pitchFamily="34" charset="-120"/>
                        </a:rPr>
                        <a:t>PROBE</a:t>
                      </a:r>
                      <a:endParaRPr lang="en-US" sz="1100" dirty="0">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800" b="1" dirty="0">
                          <a:solidFill>
                            <a:srgbClr val="475569"/>
                          </a:solidFill>
                          <a:latin typeface="Arial" pitchFamily="34" charset="0"/>
                          <a:ea typeface="Arial" pitchFamily="34" charset="-122"/>
                          <a:cs typeface="Arial" pitchFamily="34" charset="-120"/>
                        </a:rPr>
                        <a:t>Traditional</a:t>
                      </a:r>
                      <a:endParaRPr lang="en-US" sz="1200" dirty="0"/>
                    </a:p>
                    <a:p>
                      <a:pPr marL="0" indent="0" algn="ctr">
                        <a:buNone/>
                      </a:pPr>
                      <a:r>
                        <a:rPr lang="en-US" sz="800" b="1" dirty="0">
                          <a:solidFill>
                            <a:srgbClr val="475569"/>
                          </a:solidFill>
                          <a:latin typeface="Arial" pitchFamily="34" charset="0"/>
                          <a:ea typeface="Arial" pitchFamily="34" charset="-122"/>
                          <a:cs typeface="Arial" pitchFamily="34" charset="-120"/>
                        </a:rPr>
                        <a:t>Vuln. Scanners</a:t>
                      </a:r>
                      <a:endParaRPr lang="en-US" sz="1200" dirty="0"/>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800" b="1" dirty="0">
                          <a:solidFill>
                            <a:srgbClr val="475569"/>
                          </a:solidFill>
                          <a:latin typeface="Arial" pitchFamily="34" charset="0"/>
                          <a:ea typeface="Arial" pitchFamily="34" charset="-122"/>
                          <a:cs typeface="Arial" pitchFamily="34" charset="-120"/>
                        </a:rPr>
                        <a:t>ASM</a:t>
                      </a:r>
                      <a:endParaRPr lang="en-US" sz="1200" dirty="0"/>
                    </a:p>
                    <a:p>
                      <a:pPr marL="0" indent="0" algn="ctr">
                        <a:buNone/>
                      </a:pPr>
                      <a:r>
                        <a:rPr lang="en-US" sz="800" b="1" dirty="0">
                          <a:solidFill>
                            <a:srgbClr val="475569"/>
                          </a:solidFill>
                          <a:latin typeface="Arial" pitchFamily="34" charset="0"/>
                          <a:ea typeface="Arial" pitchFamily="34" charset="-122"/>
                          <a:cs typeface="Arial" pitchFamily="34" charset="-120"/>
                        </a:rPr>
                        <a:t>Platforms</a:t>
                      </a:r>
                      <a:endParaRPr lang="en-US" sz="1200" dirty="0"/>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extLst>
                  <a:ext uri="{0D108BD9-81ED-4DB2-BD59-A6C34878D82A}">
                    <a16:rowId xmlns:a16="http://schemas.microsoft.com/office/drawing/2014/main" val="10000"/>
                  </a:ext>
                </a:extLst>
              </a:tr>
              <a:tr h="753710">
                <a:tc>
                  <a:txBody>
                    <a:bodyPr/>
                    <a:lstStyle/>
                    <a:p>
                      <a:pPr marL="0" indent="0">
                        <a:buNone/>
                      </a:pPr>
                      <a:r>
                        <a:rPr lang="en-US" sz="1000" b="1" dirty="0">
                          <a:solidFill>
                            <a:srgbClr val="0F172A"/>
                          </a:solidFill>
                          <a:latin typeface="Arial" pitchFamily="34" charset="0"/>
                          <a:ea typeface="Arial" pitchFamily="34" charset="-122"/>
                          <a:cs typeface="Arial" pitchFamily="34" charset="-120"/>
                        </a:rPr>
                        <a:t>Executive-Focused Reporting</a:t>
                      </a:r>
                      <a:endParaRPr lang="en-US" sz="1000" dirty="0">
                        <a:latin typeface="Arial" charset="0"/>
                        <a:ea typeface="Arial" charset="0"/>
                        <a:cs typeface="Arial" charset="0"/>
                      </a:endParaRPr>
                    </a:p>
                  </a:txBody>
                  <a:tcPr marL="9142" marR="114278"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600" dirty="0">
                          <a:solidFill>
                            <a:schemeClr val="tx1"/>
                          </a:solidFill>
                          <a:latin typeface="Arial" pitchFamily="34" charset="0"/>
                          <a:ea typeface="Arial" pitchFamily="34" charset="-122"/>
                          <a:cs typeface="Arial" pitchFamily="34" charset="-120"/>
                        </a:rPr>
                        <a:t>—</a:t>
                      </a:r>
                      <a:endParaRPr lang="en-US" sz="16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extLst>
                  <a:ext uri="{0D108BD9-81ED-4DB2-BD59-A6C34878D82A}">
                    <a16:rowId xmlns:a16="http://schemas.microsoft.com/office/drawing/2014/main" val="10001"/>
                  </a:ext>
                </a:extLst>
              </a:tr>
              <a:tr h="753710">
                <a:tc>
                  <a:txBody>
                    <a:bodyPr/>
                    <a:lstStyle/>
                    <a:p>
                      <a:pPr marL="0" indent="0">
                        <a:buNone/>
                      </a:pPr>
                      <a:r>
                        <a:rPr lang="en-US" sz="1000" b="1" dirty="0">
                          <a:solidFill>
                            <a:srgbClr val="0F172A"/>
                          </a:solidFill>
                          <a:latin typeface="Arial" pitchFamily="34" charset="0"/>
                          <a:ea typeface="Arial" pitchFamily="34" charset="-122"/>
                          <a:cs typeface="Arial" pitchFamily="34" charset="-120"/>
                        </a:rPr>
                        <a:t>Business Risk Translation</a:t>
                      </a:r>
                      <a:endParaRPr lang="en-US" sz="1000" dirty="0">
                        <a:latin typeface="Arial" charset="0"/>
                        <a:ea typeface="Arial" charset="0"/>
                        <a:cs typeface="Arial" charset="0"/>
                      </a:endParaRPr>
                    </a:p>
                  </a:txBody>
                  <a:tcPr marL="9142" marR="114278"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600" dirty="0">
                          <a:solidFill>
                            <a:schemeClr val="tx1"/>
                          </a:solidFill>
                          <a:latin typeface="Arial" pitchFamily="34" charset="0"/>
                          <a:ea typeface="Arial" pitchFamily="34" charset="-122"/>
                          <a:cs typeface="Arial" pitchFamily="34" charset="-120"/>
                        </a:rPr>
                        <a:t>—</a:t>
                      </a:r>
                      <a:endParaRPr lang="en-US" sz="16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extLst>
                  <a:ext uri="{0D108BD9-81ED-4DB2-BD59-A6C34878D82A}">
                    <a16:rowId xmlns:a16="http://schemas.microsoft.com/office/drawing/2014/main" val="10002"/>
                  </a:ext>
                </a:extLst>
              </a:tr>
              <a:tr h="753710">
                <a:tc>
                  <a:txBody>
                    <a:bodyPr/>
                    <a:lstStyle/>
                    <a:p>
                      <a:pPr marL="0" indent="0">
                        <a:buNone/>
                      </a:pPr>
                      <a:r>
                        <a:rPr lang="en-US" sz="1000" b="1" dirty="0">
                          <a:solidFill>
                            <a:srgbClr val="0F172A"/>
                          </a:solidFill>
                          <a:latin typeface="Arial" pitchFamily="34" charset="0"/>
                          <a:ea typeface="Arial" pitchFamily="34" charset="-122"/>
                          <a:cs typeface="Arial" pitchFamily="34" charset="-120"/>
                        </a:rPr>
                        <a:t>Lightweight Deployment</a:t>
                      </a:r>
                      <a:endParaRPr lang="en-US" sz="1000" dirty="0">
                        <a:latin typeface="Arial" charset="0"/>
                        <a:ea typeface="Arial" charset="0"/>
                        <a:cs typeface="Arial" charset="0"/>
                      </a:endParaRPr>
                    </a:p>
                  </a:txBody>
                  <a:tcPr marL="9142" marR="114278"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600" dirty="0">
                          <a:solidFill>
                            <a:schemeClr val="tx1"/>
                          </a:solidFill>
                          <a:latin typeface="Arial" pitchFamily="34" charset="0"/>
                          <a:ea typeface="Arial" pitchFamily="34" charset="-122"/>
                          <a:cs typeface="Arial" pitchFamily="34" charset="-120"/>
                        </a:rPr>
                        <a:t>—</a:t>
                      </a:r>
                      <a:endParaRPr lang="en-US" sz="16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extLst>
                  <a:ext uri="{0D108BD9-81ED-4DB2-BD59-A6C34878D82A}">
                    <a16:rowId xmlns:a16="http://schemas.microsoft.com/office/drawing/2014/main" val="10003"/>
                  </a:ext>
                </a:extLst>
              </a:tr>
              <a:tr h="753710">
                <a:tc>
                  <a:txBody>
                    <a:bodyPr/>
                    <a:lstStyle/>
                    <a:p>
                      <a:pPr marL="0" indent="0">
                        <a:buNone/>
                      </a:pPr>
                      <a:r>
                        <a:rPr lang="en-US" sz="1000" b="1" dirty="0">
                          <a:solidFill>
                            <a:srgbClr val="0F172A"/>
                          </a:solidFill>
                          <a:latin typeface="Arial" pitchFamily="34" charset="0"/>
                          <a:ea typeface="Arial" pitchFamily="34" charset="-122"/>
                          <a:cs typeface="Arial" pitchFamily="34" charset="-120"/>
                        </a:rPr>
                        <a:t>Non-Intrusive Assessment</a:t>
                      </a:r>
                      <a:endParaRPr lang="en-US" sz="1000" dirty="0">
                        <a:latin typeface="Arial" charset="0"/>
                        <a:ea typeface="Arial" charset="0"/>
                        <a:cs typeface="Arial" charset="0"/>
                      </a:endParaRPr>
                    </a:p>
                  </a:txBody>
                  <a:tcPr marL="9142" marR="114278"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600" dirty="0">
                          <a:solidFill>
                            <a:schemeClr val="tx1"/>
                          </a:solidFill>
                          <a:latin typeface="Arial" pitchFamily="34" charset="0"/>
                          <a:ea typeface="Arial" pitchFamily="34" charset="-122"/>
                          <a:cs typeface="Arial" pitchFamily="34" charset="-120"/>
                        </a:rPr>
                        <a:t>—</a:t>
                      </a:r>
                      <a:endParaRPr lang="en-US" sz="16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0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extLst>
                  <a:ext uri="{0D108BD9-81ED-4DB2-BD59-A6C34878D82A}">
                    <a16:rowId xmlns:a16="http://schemas.microsoft.com/office/drawing/2014/main" val="10004"/>
                  </a:ext>
                </a:extLst>
              </a:tr>
              <a:tr h="753710">
                <a:tc>
                  <a:txBody>
                    <a:bodyPr/>
                    <a:lstStyle/>
                    <a:p>
                      <a:pPr marL="0" indent="0">
                        <a:buNone/>
                      </a:pPr>
                      <a:r>
                        <a:rPr lang="en-US" sz="1000" b="1" dirty="0">
                          <a:solidFill>
                            <a:srgbClr val="0F172A"/>
                          </a:solidFill>
                          <a:latin typeface="Arial" pitchFamily="34" charset="0"/>
                          <a:ea typeface="Arial" pitchFamily="34" charset="-122"/>
                          <a:cs typeface="Arial" pitchFamily="34" charset="-120"/>
                        </a:rPr>
                        <a:t>Authentication Exposure Visibility</a:t>
                      </a:r>
                      <a:endParaRPr lang="en-US" sz="1000" dirty="0">
                        <a:latin typeface="Arial" charset="0"/>
                        <a:ea typeface="Arial" charset="0"/>
                        <a:cs typeface="Arial" charset="0"/>
                      </a:endParaRPr>
                    </a:p>
                  </a:txBody>
                  <a:tcPr marL="9142" marR="114278"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2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0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extLst>
                  <a:ext uri="{0D108BD9-81ED-4DB2-BD59-A6C34878D82A}">
                    <a16:rowId xmlns:a16="http://schemas.microsoft.com/office/drawing/2014/main" val="10005"/>
                  </a:ext>
                </a:extLst>
              </a:tr>
              <a:tr h="753710">
                <a:tc>
                  <a:txBody>
                    <a:bodyPr/>
                    <a:lstStyle/>
                    <a:p>
                      <a:pPr marL="0" indent="0">
                        <a:buNone/>
                      </a:pPr>
                      <a:r>
                        <a:rPr lang="en-US" sz="1000" b="1" dirty="0">
                          <a:solidFill>
                            <a:srgbClr val="0F172A"/>
                          </a:solidFill>
                          <a:latin typeface="Arial" pitchFamily="34" charset="0"/>
                          <a:ea typeface="Arial" pitchFamily="34" charset="-122"/>
                          <a:cs typeface="Arial" pitchFamily="34" charset="-120"/>
                        </a:rPr>
                        <a:t>Continuous Monitoring</a:t>
                      </a:r>
                      <a:endParaRPr lang="en-US" sz="1000" dirty="0">
                        <a:latin typeface="Arial" charset="0"/>
                        <a:ea typeface="Arial" charset="0"/>
                        <a:cs typeface="Arial" charset="0"/>
                      </a:endParaRPr>
                    </a:p>
                  </a:txBody>
                  <a:tcPr marL="9142" marR="114278"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chemeClr val="tx1"/>
                          </a:solidFill>
                          <a:latin typeface="Arial" pitchFamily="34" charset="0"/>
                          <a:ea typeface="Arial" pitchFamily="34" charset="-122"/>
                          <a:cs typeface="Arial" pitchFamily="34" charset="-120"/>
                        </a:rPr>
                        <a:t>✓</a:t>
                      </a:r>
                      <a:endParaRPr lang="en-US" sz="1600" dirty="0">
                        <a:solidFill>
                          <a:schemeClr val="tx1"/>
                        </a:solidFill>
                      </a:endParaRPr>
                    </a:p>
                    <a:p>
                      <a:pPr marL="0" indent="0" algn="ctr">
                        <a:buNone/>
                      </a:pPr>
                      <a:endParaRPr lang="en-US" sz="16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solidFill>
                          <a:schemeClr val="tx1"/>
                        </a:solidFill>
                        <a:latin typeface="Arial" charset="0"/>
                        <a:ea typeface="Arial" charset="0"/>
                        <a:cs typeface="Arial" charset="0"/>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marL="0" indent="0" algn="ctr">
                        <a:buNone/>
                      </a:pPr>
                      <a:r>
                        <a:rPr lang="en-US" sz="1000" b="1" dirty="0">
                          <a:solidFill>
                            <a:schemeClr val="tx1"/>
                          </a:solidFill>
                          <a:latin typeface="Arial" pitchFamily="34" charset="0"/>
                          <a:ea typeface="Arial" pitchFamily="34" charset="-122"/>
                          <a:cs typeface="Arial" pitchFamily="34" charset="-120"/>
                        </a:rPr>
                        <a:t>✓</a:t>
                      </a:r>
                      <a:endParaRPr lang="en-US" sz="1200" dirty="0">
                        <a:solidFill>
                          <a:schemeClr val="tx1"/>
                        </a:solidFill>
                      </a:endParaRPr>
                    </a:p>
                  </a:txBody>
                  <a:tcPr marL="9142" marR="9142" marT="9142" marB="914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9" name="Text 39"/>
          <p:cNvSpPr txBox="1"/>
          <p:nvPr/>
        </p:nvSpPr>
        <p:spPr>
          <a:xfrm>
            <a:off x="9018796" y="7981132"/>
            <a:ext cx="6219448" cy="152674"/>
          </a:xfrm>
          <a:prstGeom prst="rect">
            <a:avLst/>
          </a:prstGeom>
          <a:noFill/>
          <a:ln/>
        </p:spPr>
        <p:txBody>
          <a:bodyPr wrap="square" lIns="0" tIns="0" rIns="0" bIns="0" rtlCol="0" anchor="ctr"/>
          <a:lstStyle/>
          <a:p>
            <a:r>
              <a:rPr lang="en-US" sz="1000" b="1" spc="66" dirty="0">
                <a:solidFill>
                  <a:schemeClr val="tx1"/>
                </a:solidFill>
                <a:latin typeface="Arial" pitchFamily="34" charset="0"/>
                <a:ea typeface="Arial" pitchFamily="34" charset="-122"/>
                <a:cs typeface="Arial" pitchFamily="34" charset="-120"/>
              </a:rPr>
              <a:t>✓</a:t>
            </a:r>
            <a:r>
              <a:rPr lang="en-US" sz="1000" spc="66" dirty="0">
                <a:solidFill>
                  <a:schemeClr val="tx1"/>
                </a:solidFill>
                <a:latin typeface="Arial" pitchFamily="34" charset="0"/>
                <a:ea typeface="Arial" pitchFamily="34" charset="-122"/>
                <a:cs typeface="Arial" pitchFamily="34" charset="-120"/>
              </a:rPr>
              <a:t> Full capability · </a:t>
            </a:r>
            <a:r>
              <a:rPr lang="en-US" sz="1000" b="1" spc="66" dirty="0">
                <a:solidFill>
                  <a:schemeClr val="tx1"/>
                </a:solidFill>
                <a:latin typeface="Arial" pitchFamily="34" charset="0"/>
                <a:ea typeface="Arial" pitchFamily="34" charset="-122"/>
                <a:cs typeface="Arial" pitchFamily="34" charset="-120"/>
              </a:rPr>
              <a:t>◐</a:t>
            </a:r>
            <a:r>
              <a:rPr lang="en-US" sz="1000" spc="66" dirty="0">
                <a:solidFill>
                  <a:schemeClr val="tx1"/>
                </a:solidFill>
                <a:latin typeface="Arial" pitchFamily="34" charset="0"/>
                <a:ea typeface="Arial" pitchFamily="34" charset="-122"/>
                <a:cs typeface="Arial" pitchFamily="34" charset="-120"/>
              </a:rPr>
              <a:t> Partial · — Not offered </a:t>
            </a:r>
            <a:endParaRPr lang="en-US" sz="1000" dirty="0">
              <a:solidFill>
                <a:schemeClr val="tx1"/>
              </a:solidFill>
            </a:endParaRPr>
          </a:p>
        </p:txBody>
      </p:sp>
      <p:sp>
        <p:nvSpPr>
          <p:cNvPr id="50" name="Text 40"/>
          <p:cNvSpPr txBox="1"/>
          <p:nvPr/>
        </p:nvSpPr>
        <p:spPr>
          <a:xfrm>
            <a:off x="9018796" y="8209688"/>
            <a:ext cx="6905114" cy="152675"/>
          </a:xfrm>
          <a:prstGeom prst="rect">
            <a:avLst/>
          </a:prstGeom>
          <a:noFill/>
          <a:ln/>
        </p:spPr>
        <p:txBody>
          <a:bodyPr wrap="square" lIns="0" tIns="0" rIns="0" bIns="0" rtlCol="0" anchor="ctr"/>
          <a:lstStyle/>
          <a:p>
            <a:r>
              <a:rPr lang="en-US" sz="1050" i="1" dirty="0">
                <a:solidFill>
                  <a:schemeClr val="tx1"/>
                </a:solidFill>
                <a:latin typeface="Arial" pitchFamily="34" charset="0"/>
                <a:ea typeface="Arial" pitchFamily="34" charset="-122"/>
                <a:cs typeface="Arial" pitchFamily="34" charset="-120"/>
              </a:rPr>
              <a:t>PROBE emphasizes visibility into exposed authentication surfaces, including login portals, VPN gateways, and admin interfaces</a:t>
            </a:r>
            <a:r>
              <a:rPr lang="en-US" sz="800" i="1" dirty="0">
                <a:solidFill>
                  <a:srgbClr val="475569"/>
                </a:solidFill>
                <a:latin typeface="Arial" pitchFamily="34" charset="0"/>
                <a:ea typeface="Arial" pitchFamily="34" charset="-122"/>
                <a:cs typeface="Arial" pitchFamily="34" charset="-120"/>
              </a:rPr>
              <a:t>.</a:t>
            </a:r>
            <a:endParaRPr lang="en-US" sz="800" dirty="0"/>
          </a:p>
        </p:txBody>
      </p:sp>
      <p:sp>
        <p:nvSpPr>
          <p:cNvPr id="51" name="Text 41"/>
          <p:cNvSpPr txBox="1"/>
          <p:nvPr/>
        </p:nvSpPr>
        <p:spPr>
          <a:xfrm>
            <a:off x="1019358" y="8761877"/>
            <a:ext cx="14218886" cy="143533"/>
          </a:xfrm>
          <a:prstGeom prst="rect">
            <a:avLst/>
          </a:prstGeom>
          <a:noFill/>
          <a:ln/>
        </p:spPr>
        <p:txBody>
          <a:bodyPr wrap="square" lIns="0" tIns="0" rIns="0" bIns="0" rtlCol="0" anchor="ctr"/>
          <a:lstStyle/>
          <a:p>
            <a:r>
              <a:rPr lang="en-US" sz="900" i="1" dirty="0">
                <a:solidFill>
                  <a:srgbClr val="475569"/>
                </a:solidFill>
                <a:latin typeface="Arial" pitchFamily="34" charset="0"/>
                <a:ea typeface="Arial" pitchFamily="34" charset="-122"/>
                <a:cs typeface="Arial" pitchFamily="34" charset="-120"/>
              </a:rPr>
              <a:t>Designed to complement, not replace, enterprise security tooling.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5"/>
        <p:cNvGrpSpPr/>
        <p:nvPr/>
      </p:nvGrpSpPr>
      <p:grpSpPr>
        <a:xfrm>
          <a:off x="0" y="0"/>
          <a:ext cx="0" cy="0"/>
          <a:chOff x="0" y="0"/>
          <a:chExt cx="0" cy="0"/>
        </a:xfrm>
      </p:grpSpPr>
      <p:sp>
        <p:nvSpPr>
          <p:cNvPr id="216" name="Google Shape;216;p21"/>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High-Impact Use Cases</a:t>
            </a:r>
            <a:endParaRPr sz="1100" b="0" i="0" u="none" strike="noStrike" cap="none">
              <a:solidFill>
                <a:srgbClr val="000000"/>
              </a:solidFill>
              <a:latin typeface="Arial"/>
              <a:ea typeface="Arial"/>
              <a:cs typeface="Arial"/>
              <a:sym typeface="Arial"/>
            </a:endParaRPr>
          </a:p>
        </p:txBody>
      </p:sp>
      <p:sp>
        <p:nvSpPr>
          <p:cNvPr id="217" name="Google Shape;217;p21"/>
          <p:cNvSpPr/>
          <p:nvPr/>
        </p:nvSpPr>
        <p:spPr>
          <a:xfrm>
            <a:off x="1016000" y="8255000"/>
            <a:ext cx="14224000" cy="508000"/>
          </a:xfrm>
          <a:prstGeom prst="rect">
            <a:avLst/>
          </a:prstGeom>
          <a:no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2000" b="0" i="1" u="none" strike="noStrike" cap="none">
                <a:solidFill>
                  <a:srgbClr val="94A3B8"/>
                </a:solidFill>
                <a:latin typeface="Arial"/>
                <a:ea typeface="Arial"/>
                <a:cs typeface="Arial"/>
                <a:sym typeface="Arial"/>
              </a:rPr>
              <a:t> Designed for lightweight assessments, not continuous monitoring.</a:t>
            </a:r>
            <a:endParaRPr sz="1100" b="0" i="0" u="none" strike="noStrike" cap="none">
              <a:solidFill>
                <a:srgbClr val="000000"/>
              </a:solidFill>
              <a:latin typeface="Arial"/>
              <a:ea typeface="Arial"/>
              <a:cs typeface="Arial"/>
              <a:sym typeface="Arial"/>
            </a:endParaRPr>
          </a:p>
        </p:txBody>
      </p:sp>
      <p:sp>
        <p:nvSpPr>
          <p:cNvPr id="218" name="Google Shape;218;p21"/>
          <p:cNvSpPr/>
          <p:nvPr/>
        </p:nvSpPr>
        <p:spPr>
          <a:xfrm>
            <a:off x="1016000" y="3810000"/>
            <a:ext cx="228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Quarterly Cyber Risk Review</a:t>
            </a:r>
            <a:endParaRPr sz="1100" b="0" i="0" u="none" strike="noStrike" cap="none">
              <a:solidFill>
                <a:srgbClr val="000000"/>
              </a:solidFill>
              <a:latin typeface="Arial"/>
              <a:ea typeface="Arial"/>
              <a:cs typeface="Arial"/>
              <a:sym typeface="Arial"/>
            </a:endParaRPr>
          </a:p>
        </p:txBody>
      </p:sp>
      <p:sp>
        <p:nvSpPr>
          <p:cNvPr id="219" name="Google Shape;219;p21"/>
          <p:cNvSpPr/>
          <p:nvPr/>
        </p:nvSpPr>
        <p:spPr>
          <a:xfrm>
            <a:off x="1016000" y="3810000"/>
            <a:ext cx="2286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 name="Google Shape;220;p21"/>
          <p:cNvSpPr/>
          <p:nvPr/>
        </p:nvSpPr>
        <p:spPr>
          <a:xfrm>
            <a:off x="2032000" y="5461000"/>
            <a:ext cx="254000" cy="254000"/>
          </a:xfrm>
          <a:prstGeom prst="ellipse">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221" name="Google Shape;221;p21"/>
          <p:cNvCxnSpPr/>
          <p:nvPr/>
        </p:nvCxnSpPr>
        <p:spPr>
          <a:xfrm rot="-3347193">
            <a:off x="1751203" y="4566160"/>
            <a:ext cx="2465894" cy="12700"/>
          </a:xfrm>
          <a:prstGeom prst="straightConnector1">
            <a:avLst/>
          </a:prstGeom>
          <a:solidFill>
            <a:srgbClr val="DEE0E3"/>
          </a:solidFill>
          <a:ln w="25400" cap="flat" cmpd="sng">
            <a:solidFill>
              <a:srgbClr val="E2E8F0"/>
            </a:solidFill>
            <a:prstDash val="dash"/>
            <a:round/>
            <a:headEnd type="none" w="sm" len="sm"/>
            <a:tailEnd type="none" w="sm" len="sm"/>
          </a:ln>
        </p:spPr>
      </p:cxnSp>
      <p:sp>
        <p:nvSpPr>
          <p:cNvPr id="222" name="Google Shape;222;p21"/>
          <p:cNvSpPr/>
          <p:nvPr/>
        </p:nvSpPr>
        <p:spPr>
          <a:xfrm>
            <a:off x="3810000" y="1905000"/>
            <a:ext cx="228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Before a Board Meeting</a:t>
            </a:r>
            <a:endParaRPr sz="1100" b="0" i="0" u="none" strike="noStrike" cap="none">
              <a:solidFill>
                <a:srgbClr val="000000"/>
              </a:solidFill>
              <a:latin typeface="Arial"/>
              <a:ea typeface="Arial"/>
              <a:cs typeface="Arial"/>
              <a:sym typeface="Arial"/>
            </a:endParaRPr>
          </a:p>
        </p:txBody>
      </p:sp>
      <p:sp>
        <p:nvSpPr>
          <p:cNvPr id="223" name="Google Shape;223;p21"/>
          <p:cNvSpPr/>
          <p:nvPr/>
        </p:nvSpPr>
        <p:spPr>
          <a:xfrm>
            <a:off x="3810000" y="1905000"/>
            <a:ext cx="2286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 name="Google Shape;224;p21"/>
          <p:cNvSpPr/>
          <p:nvPr/>
        </p:nvSpPr>
        <p:spPr>
          <a:xfrm>
            <a:off x="4826000" y="3556000"/>
            <a:ext cx="254000" cy="254000"/>
          </a:xfrm>
          <a:prstGeom prst="ellipse">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225" name="Google Shape;225;p21"/>
          <p:cNvCxnSpPr/>
          <p:nvPr/>
        </p:nvCxnSpPr>
        <p:spPr>
          <a:xfrm rot="3091258">
            <a:off x="4647533" y="4565165"/>
            <a:ext cx="2261171" cy="12700"/>
          </a:xfrm>
          <a:prstGeom prst="straightConnector1">
            <a:avLst/>
          </a:prstGeom>
          <a:solidFill>
            <a:srgbClr val="DEE0E3"/>
          </a:solidFill>
          <a:ln w="25400" cap="flat" cmpd="sng">
            <a:solidFill>
              <a:srgbClr val="E2E8F0"/>
            </a:solidFill>
            <a:prstDash val="dash"/>
            <a:round/>
            <a:headEnd type="none" w="sm" len="sm"/>
            <a:tailEnd type="none" w="sm" len="sm"/>
          </a:ln>
        </p:spPr>
      </p:cxnSp>
      <p:sp>
        <p:nvSpPr>
          <p:cNvPr id="226" name="Google Shape;226;p21"/>
          <p:cNvSpPr/>
          <p:nvPr/>
        </p:nvSpPr>
        <p:spPr>
          <a:xfrm>
            <a:off x="6604000" y="3810000"/>
            <a:ext cx="228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After a New App Launch</a:t>
            </a:r>
            <a:endParaRPr sz="1100" b="0" i="0" u="none" strike="noStrike" cap="none">
              <a:solidFill>
                <a:srgbClr val="000000"/>
              </a:solidFill>
              <a:latin typeface="Arial"/>
              <a:ea typeface="Arial"/>
              <a:cs typeface="Arial"/>
              <a:sym typeface="Arial"/>
            </a:endParaRPr>
          </a:p>
        </p:txBody>
      </p:sp>
      <p:sp>
        <p:nvSpPr>
          <p:cNvPr id="227" name="Google Shape;227;p21"/>
          <p:cNvSpPr/>
          <p:nvPr/>
        </p:nvSpPr>
        <p:spPr>
          <a:xfrm>
            <a:off x="6604000" y="3810000"/>
            <a:ext cx="2286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 name="Google Shape;228;p21"/>
          <p:cNvSpPr/>
          <p:nvPr/>
        </p:nvSpPr>
        <p:spPr>
          <a:xfrm>
            <a:off x="7620000" y="5461000"/>
            <a:ext cx="254000" cy="254000"/>
          </a:xfrm>
          <a:prstGeom prst="ellipse">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229" name="Google Shape;229;p21"/>
          <p:cNvCxnSpPr/>
          <p:nvPr/>
        </p:nvCxnSpPr>
        <p:spPr>
          <a:xfrm rot="-3347193">
            <a:off x="7339203" y="4566160"/>
            <a:ext cx="2465894" cy="12700"/>
          </a:xfrm>
          <a:prstGeom prst="straightConnector1">
            <a:avLst/>
          </a:prstGeom>
          <a:solidFill>
            <a:srgbClr val="DEE0E3"/>
          </a:solidFill>
          <a:ln w="25400" cap="flat" cmpd="sng">
            <a:solidFill>
              <a:srgbClr val="E2E8F0"/>
            </a:solidFill>
            <a:prstDash val="dash"/>
            <a:round/>
            <a:headEnd type="none" w="sm" len="sm"/>
            <a:tailEnd type="none" w="sm" len="sm"/>
          </a:ln>
        </p:spPr>
      </p:cxnSp>
      <p:sp>
        <p:nvSpPr>
          <p:cNvPr id="230" name="Google Shape;230;p21"/>
          <p:cNvSpPr/>
          <p:nvPr/>
        </p:nvSpPr>
        <p:spPr>
          <a:xfrm>
            <a:off x="9398000" y="1905000"/>
            <a:ext cx="228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M&amp;A or Vendor Review</a:t>
            </a:r>
            <a:endParaRPr sz="1100" b="0" i="0" u="none" strike="noStrike" cap="none">
              <a:solidFill>
                <a:srgbClr val="000000"/>
              </a:solidFill>
              <a:latin typeface="Arial"/>
              <a:ea typeface="Arial"/>
              <a:cs typeface="Arial"/>
              <a:sym typeface="Arial"/>
            </a:endParaRPr>
          </a:p>
        </p:txBody>
      </p:sp>
      <p:sp>
        <p:nvSpPr>
          <p:cNvPr id="231" name="Google Shape;231;p21"/>
          <p:cNvSpPr/>
          <p:nvPr/>
        </p:nvSpPr>
        <p:spPr>
          <a:xfrm>
            <a:off x="9398000" y="1905000"/>
            <a:ext cx="2286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 name="Google Shape;232;p21"/>
          <p:cNvSpPr/>
          <p:nvPr/>
        </p:nvSpPr>
        <p:spPr>
          <a:xfrm>
            <a:off x="10414000" y="3556000"/>
            <a:ext cx="254000" cy="254000"/>
          </a:xfrm>
          <a:prstGeom prst="ellipse">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233" name="Google Shape;233;p21"/>
          <p:cNvCxnSpPr/>
          <p:nvPr/>
        </p:nvCxnSpPr>
        <p:spPr>
          <a:xfrm rot="3091258">
            <a:off x="10235533" y="4565165"/>
            <a:ext cx="2261171" cy="12700"/>
          </a:xfrm>
          <a:prstGeom prst="straightConnector1">
            <a:avLst/>
          </a:prstGeom>
          <a:solidFill>
            <a:srgbClr val="DEE0E3"/>
          </a:solidFill>
          <a:ln w="25400" cap="flat" cmpd="sng">
            <a:solidFill>
              <a:srgbClr val="E2E8F0"/>
            </a:solidFill>
            <a:prstDash val="dash"/>
            <a:round/>
            <a:headEnd type="none" w="sm" len="sm"/>
            <a:tailEnd type="none" w="sm" len="sm"/>
          </a:ln>
        </p:spPr>
      </p:cxnSp>
      <p:sp>
        <p:nvSpPr>
          <p:cNvPr id="234" name="Google Shape;234;p21"/>
          <p:cNvSpPr/>
          <p:nvPr/>
        </p:nvSpPr>
        <p:spPr>
          <a:xfrm>
            <a:off x="12192000" y="3810000"/>
            <a:ext cx="228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Post-Cloud Migration</a:t>
            </a:r>
            <a:endParaRPr sz="1100" b="0" i="0" u="none" strike="noStrike" cap="none">
              <a:solidFill>
                <a:srgbClr val="000000"/>
              </a:solidFill>
              <a:latin typeface="Arial"/>
              <a:ea typeface="Arial"/>
              <a:cs typeface="Arial"/>
              <a:sym typeface="Arial"/>
            </a:endParaRPr>
          </a:p>
        </p:txBody>
      </p:sp>
      <p:sp>
        <p:nvSpPr>
          <p:cNvPr id="235" name="Google Shape;235;p21"/>
          <p:cNvSpPr/>
          <p:nvPr/>
        </p:nvSpPr>
        <p:spPr>
          <a:xfrm>
            <a:off x="12192000" y="3810000"/>
            <a:ext cx="2286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 name="Google Shape;236;p21"/>
          <p:cNvSpPr/>
          <p:nvPr/>
        </p:nvSpPr>
        <p:spPr>
          <a:xfrm>
            <a:off x="13208000" y="5461000"/>
            <a:ext cx="254000" cy="254000"/>
          </a:xfrm>
          <a:prstGeom prst="ellipse">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4"/>
        <p:cNvGrpSpPr/>
        <p:nvPr/>
      </p:nvGrpSpPr>
      <p:grpSpPr>
        <a:xfrm>
          <a:off x="0" y="0"/>
          <a:ext cx="0" cy="0"/>
          <a:chOff x="0" y="0"/>
          <a:chExt cx="0" cy="0"/>
        </a:xfrm>
      </p:grpSpPr>
      <p:sp>
        <p:nvSpPr>
          <p:cNvPr id="245" name="Google Shape;245;p22"/>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The PROBE Workflow</a:t>
            </a:r>
            <a:endParaRPr sz="1100" b="0" i="0" u="none" strike="noStrike" cap="none">
              <a:solidFill>
                <a:srgbClr val="000000"/>
              </a:solidFill>
              <a:latin typeface="Arial"/>
              <a:ea typeface="Arial"/>
              <a:cs typeface="Arial"/>
              <a:sym typeface="Arial"/>
            </a:endParaRPr>
          </a:p>
        </p:txBody>
      </p:sp>
      <p:sp>
        <p:nvSpPr>
          <p:cNvPr id="246" name="Google Shape;246;p22"/>
          <p:cNvSpPr/>
          <p:nvPr/>
        </p:nvSpPr>
        <p:spPr>
          <a:xfrm>
            <a:off x="1016000" y="2286000"/>
            <a:ext cx="355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1. Enter Domain/IPs</a:t>
            </a:r>
            <a:endParaRPr sz="1100" b="0" i="0" u="none" strike="noStrike" cap="none">
              <a:solidFill>
                <a:srgbClr val="000000"/>
              </a:solidFill>
              <a:latin typeface="Arial"/>
              <a:ea typeface="Arial"/>
              <a:cs typeface="Arial"/>
              <a:sym typeface="Arial"/>
            </a:endParaRPr>
          </a:p>
        </p:txBody>
      </p:sp>
      <p:sp>
        <p:nvSpPr>
          <p:cNvPr id="247" name="Google Shape;247;p22"/>
          <p:cNvSpPr/>
          <p:nvPr/>
        </p:nvSpPr>
        <p:spPr>
          <a:xfrm>
            <a:off x="1016000" y="2286000"/>
            <a:ext cx="3556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 name="Google Shape;248;p22"/>
          <p:cNvSpPr/>
          <p:nvPr/>
        </p:nvSpPr>
        <p:spPr>
          <a:xfrm>
            <a:off x="4826000" y="2857500"/>
            <a:ext cx="508000" cy="381000"/>
          </a:xfrm>
          <a:prstGeom prst="rightArrow">
            <a:avLst>
              <a:gd name="adj1" fmla="val 50000"/>
              <a:gd name="adj2" fmla="val 50000"/>
            </a:avLst>
          </a:prstGeom>
          <a:solidFill>
            <a:srgbClr val="E2E8F0"/>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 name="Google Shape;249;p22"/>
          <p:cNvSpPr/>
          <p:nvPr/>
        </p:nvSpPr>
        <p:spPr>
          <a:xfrm>
            <a:off x="5588000" y="2286000"/>
            <a:ext cx="355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2. Authorization Check</a:t>
            </a:r>
            <a:endParaRPr sz="1100" b="0" i="0" u="none" strike="noStrike" cap="none">
              <a:solidFill>
                <a:srgbClr val="000000"/>
              </a:solidFill>
              <a:latin typeface="Arial"/>
              <a:ea typeface="Arial"/>
              <a:cs typeface="Arial"/>
              <a:sym typeface="Arial"/>
            </a:endParaRPr>
          </a:p>
        </p:txBody>
      </p:sp>
      <p:sp>
        <p:nvSpPr>
          <p:cNvPr id="250" name="Google Shape;250;p22"/>
          <p:cNvSpPr/>
          <p:nvPr/>
        </p:nvSpPr>
        <p:spPr>
          <a:xfrm>
            <a:off x="5588000" y="2286000"/>
            <a:ext cx="3556000" cy="508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 name="Google Shape;251;p22"/>
          <p:cNvSpPr/>
          <p:nvPr/>
        </p:nvSpPr>
        <p:spPr>
          <a:xfrm>
            <a:off x="9398000" y="2857500"/>
            <a:ext cx="508000" cy="381000"/>
          </a:xfrm>
          <a:prstGeom prst="rightArrow">
            <a:avLst>
              <a:gd name="adj1" fmla="val 50000"/>
              <a:gd name="adj2" fmla="val 50000"/>
            </a:avLst>
          </a:prstGeom>
          <a:solidFill>
            <a:srgbClr val="E2E8F0"/>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 name="Google Shape;252;p22"/>
          <p:cNvSpPr/>
          <p:nvPr/>
        </p:nvSpPr>
        <p:spPr>
          <a:xfrm>
            <a:off x="10160000" y="2286000"/>
            <a:ext cx="355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3. Public Discovery</a:t>
            </a:r>
            <a:endParaRPr sz="1100" b="0" i="0" u="none" strike="noStrike" cap="none">
              <a:solidFill>
                <a:srgbClr val="000000"/>
              </a:solidFill>
              <a:latin typeface="Arial"/>
              <a:ea typeface="Arial"/>
              <a:cs typeface="Arial"/>
              <a:sym typeface="Arial"/>
            </a:endParaRPr>
          </a:p>
        </p:txBody>
      </p:sp>
      <p:sp>
        <p:nvSpPr>
          <p:cNvPr id="253" name="Google Shape;253;p22"/>
          <p:cNvSpPr/>
          <p:nvPr/>
        </p:nvSpPr>
        <p:spPr>
          <a:xfrm>
            <a:off x="10160000" y="2286000"/>
            <a:ext cx="3556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 name="Google Shape;254;p22"/>
          <p:cNvSpPr/>
          <p:nvPr/>
        </p:nvSpPr>
        <p:spPr>
          <a:xfrm>
            <a:off x="11747500" y="4064000"/>
            <a:ext cx="381000" cy="508000"/>
          </a:xfrm>
          <a:prstGeom prst="downArrow">
            <a:avLst>
              <a:gd name="adj1" fmla="val 50000"/>
              <a:gd name="adj2" fmla="val 50000"/>
            </a:avLst>
          </a:prstGeom>
          <a:solidFill>
            <a:srgbClr val="E2E8F0"/>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 name="Google Shape;255;p22"/>
          <p:cNvSpPr/>
          <p:nvPr/>
        </p:nvSpPr>
        <p:spPr>
          <a:xfrm>
            <a:off x="10160000" y="4826000"/>
            <a:ext cx="355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4. Safe Web &amp; DNS Checks</a:t>
            </a:r>
            <a:endParaRPr sz="1100" b="0" i="0" u="none" strike="noStrike" cap="none">
              <a:solidFill>
                <a:srgbClr val="000000"/>
              </a:solidFill>
              <a:latin typeface="Arial"/>
              <a:ea typeface="Arial"/>
              <a:cs typeface="Arial"/>
              <a:sym typeface="Arial"/>
            </a:endParaRPr>
          </a:p>
        </p:txBody>
      </p:sp>
      <p:sp>
        <p:nvSpPr>
          <p:cNvPr id="256" name="Google Shape;256;p22"/>
          <p:cNvSpPr/>
          <p:nvPr/>
        </p:nvSpPr>
        <p:spPr>
          <a:xfrm>
            <a:off x="10160000" y="4826000"/>
            <a:ext cx="3556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7" name="Google Shape;257;p22"/>
          <p:cNvSpPr/>
          <p:nvPr/>
        </p:nvSpPr>
        <p:spPr>
          <a:xfrm flipH="1">
            <a:off x="9398000" y="5397500"/>
            <a:ext cx="508000" cy="381000"/>
          </a:xfrm>
          <a:prstGeom prst="rightArrow">
            <a:avLst>
              <a:gd name="adj1" fmla="val 50000"/>
              <a:gd name="adj2" fmla="val 50000"/>
            </a:avLst>
          </a:prstGeom>
          <a:solidFill>
            <a:srgbClr val="E2E8F0"/>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8" name="Google Shape;258;p22"/>
          <p:cNvSpPr/>
          <p:nvPr/>
        </p:nvSpPr>
        <p:spPr>
          <a:xfrm>
            <a:off x="5588000" y="4826000"/>
            <a:ext cx="3556000" cy="1524000"/>
          </a:xfrm>
          <a:prstGeom prst="roundRect">
            <a:avLst>
              <a:gd name="adj" fmla="val 5000"/>
            </a:avLst>
          </a:prstGeom>
          <a:solidFill>
            <a:srgbClr val="F8FAFC"/>
          </a:solidFill>
          <a:ln w="12700" cap="flat" cmpd="sng">
            <a:solidFill>
              <a:srgbClr val="E2E8F0"/>
            </a:solidFill>
            <a:prstDash val="solid"/>
            <a:round/>
            <a:headEnd type="none" w="sm" len="sm"/>
            <a:tailEnd type="none" w="sm" len="sm"/>
          </a:ln>
          <a:effectLst>
            <a:outerShdw blurRad="127000" dist="50800" dir="2700000" algn="tl" rotWithShape="0">
              <a:srgbClr val="000000">
                <a:alpha val="5098"/>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F172A"/>
                </a:solidFill>
                <a:latin typeface="Arial"/>
                <a:ea typeface="Arial"/>
                <a:cs typeface="Arial"/>
                <a:sym typeface="Arial"/>
              </a:rPr>
              <a:t>5. Risk Scoring &amp; Rating</a:t>
            </a:r>
            <a:endParaRPr sz="1100" b="0" i="0" u="none" strike="noStrike" cap="none">
              <a:solidFill>
                <a:srgbClr val="000000"/>
              </a:solidFill>
              <a:latin typeface="Arial"/>
              <a:ea typeface="Arial"/>
              <a:cs typeface="Arial"/>
              <a:sym typeface="Arial"/>
            </a:endParaRPr>
          </a:p>
        </p:txBody>
      </p:sp>
      <p:sp>
        <p:nvSpPr>
          <p:cNvPr id="259" name="Google Shape;259;p22"/>
          <p:cNvSpPr/>
          <p:nvPr/>
        </p:nvSpPr>
        <p:spPr>
          <a:xfrm>
            <a:off x="5588000" y="4826000"/>
            <a:ext cx="3556000" cy="508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0" name="Google Shape;260;p22"/>
          <p:cNvSpPr/>
          <p:nvPr/>
        </p:nvSpPr>
        <p:spPr>
          <a:xfrm flipH="1">
            <a:off x="4826000" y="5397500"/>
            <a:ext cx="508000" cy="381000"/>
          </a:xfrm>
          <a:prstGeom prst="rightArrow">
            <a:avLst>
              <a:gd name="adj1" fmla="val 50000"/>
              <a:gd name="adj2" fmla="val 50000"/>
            </a:avLst>
          </a:prstGeom>
          <a:solidFill>
            <a:srgbClr val="E2E8F0"/>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1" name="Google Shape;261;p22"/>
          <p:cNvSpPr/>
          <p:nvPr/>
        </p:nvSpPr>
        <p:spPr>
          <a:xfrm>
            <a:off x="1016000" y="4826000"/>
            <a:ext cx="3556000" cy="1524000"/>
          </a:xfrm>
          <a:prstGeom prst="roundRect">
            <a:avLst>
              <a:gd name="adj" fmla="val 5000"/>
            </a:avLst>
          </a:prstGeom>
          <a:solidFill>
            <a:srgbClr val="1E3A8A"/>
          </a:solidFill>
          <a:ln w="12700" cap="flat" cmpd="sng">
            <a:solidFill>
              <a:srgbClr val="E2E8F0"/>
            </a:solidFill>
            <a:prstDash val="solid"/>
            <a:round/>
            <a:headEnd type="none" w="sm" len="sm"/>
            <a:tailEnd type="none" w="sm" len="sm"/>
          </a:ln>
          <a:effectLst>
            <a:outerShdw blurRad="190500" dist="50800" dir="2700000" algn="tl" rotWithShape="0">
              <a:srgbClr val="1E3A8A">
                <a:alpha val="30196"/>
              </a:srgbClr>
            </a:outerShdw>
          </a:effectLst>
        </p:spPr>
        <p:txBody>
          <a:bodyPr spcFirstLastPara="1" wrap="square" lIns="127000" tIns="101600" rIns="127000" bIns="1016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FFFFF"/>
                </a:solidFill>
                <a:latin typeface="Arial"/>
                <a:ea typeface="Arial"/>
                <a:cs typeface="Arial"/>
                <a:sym typeface="Arial"/>
              </a:rPr>
              <a:t>6. Exec Report Generation</a:t>
            </a:r>
            <a:endParaRPr sz="1100" b="0" i="0" u="none" strike="noStrike" cap="none">
              <a:solidFill>
                <a:srgbClr val="000000"/>
              </a:solidFill>
              <a:latin typeface="Arial"/>
              <a:ea typeface="Arial"/>
              <a:cs typeface="Arial"/>
              <a:sym typeface="Arial"/>
            </a:endParaRPr>
          </a:p>
        </p:txBody>
      </p:sp>
      <p:sp>
        <p:nvSpPr>
          <p:cNvPr id="262" name="Google Shape;262;p22"/>
          <p:cNvSpPr/>
          <p:nvPr/>
        </p:nvSpPr>
        <p:spPr>
          <a:xfrm>
            <a:off x="1016000" y="6985000"/>
            <a:ext cx="12700000" cy="1016000"/>
          </a:xfrm>
          <a:prstGeom prst="roundRect">
            <a:avLst>
              <a:gd name="adj" fmla="val 0"/>
            </a:avLst>
          </a:prstGeom>
          <a:solidFill>
            <a:srgbClr val="F8FAFC"/>
          </a:solidFill>
          <a:ln w="12700" cap="flat" cmpd="sng">
            <a:solidFill>
              <a:srgbClr val="E2E8F0"/>
            </a:solidFill>
            <a:prstDash val="solid"/>
            <a:round/>
            <a:headEnd type="none" w="sm" len="sm"/>
            <a:tailEnd type="none" w="sm" len="sm"/>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1E3A8A"/>
                </a:solidFill>
                <a:latin typeface="Arial"/>
                <a:ea typeface="Arial"/>
                <a:cs typeface="Arial"/>
                <a:sym typeface="Arial"/>
              </a:rPr>
              <a:t>Checks include:</a:t>
            </a:r>
            <a:r>
              <a:rPr lang="en-US" sz="1600" b="0" i="0" u="none" strike="noStrike" cap="none">
                <a:solidFill>
                  <a:srgbClr val="475569"/>
                </a:solidFill>
                <a:latin typeface="Arial"/>
                <a:ea typeface="Arial"/>
                <a:cs typeface="Arial"/>
                <a:sym typeface="Arial"/>
              </a:rPr>
              <a:t> DNS discovery, HTTP/HTTPS reachability, TLS health, Security headers, SPF/DMARC, IPs.</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sp>
        <p:nvSpPr>
          <p:cNvPr id="271" name="Google Shape;271;p23"/>
          <p:cNvSpPr/>
          <p:nvPr/>
        </p:nvSpPr>
        <p:spPr>
          <a:xfrm>
            <a:off x="1016000" y="635000"/>
            <a:ext cx="10160000" cy="762000"/>
          </a:xfrm>
          <a:prstGeom prst="rect">
            <a:avLst/>
          </a:prstGeom>
          <a:noFill/>
          <a:ln>
            <a:noFill/>
          </a:ln>
        </p:spPr>
        <p:txBody>
          <a:bodyPr spcFirstLastPara="1" wrap="square" lIns="101600" tIns="101600" rIns="101600" bIns="101600" anchor="ctr" anchorCtr="0">
            <a:noAutofit/>
          </a:bodyPr>
          <a:lstStyle/>
          <a:p>
            <a:pPr marL="0" marR="0" lvl="0" indent="0" algn="l" rtl="0">
              <a:lnSpc>
                <a:spcPct val="90000"/>
              </a:lnSpc>
              <a:spcBef>
                <a:spcPts val="0"/>
              </a:spcBef>
              <a:spcAft>
                <a:spcPts val="0"/>
              </a:spcAft>
              <a:buNone/>
            </a:pPr>
            <a:r>
              <a:rPr lang="en-US" sz="4000" b="1" i="0" u="none" strike="noStrike" cap="none">
                <a:solidFill>
                  <a:srgbClr val="0F172A"/>
                </a:solidFill>
                <a:latin typeface="Arial"/>
                <a:ea typeface="Arial"/>
                <a:cs typeface="Arial"/>
                <a:sym typeface="Arial"/>
              </a:rPr>
              <a:t>Expected Outcomes &amp; Value</a:t>
            </a:r>
            <a:endParaRPr sz="1100" b="0" i="0" u="none" strike="noStrike" cap="none">
              <a:solidFill>
                <a:srgbClr val="000000"/>
              </a:solidFill>
              <a:latin typeface="Arial"/>
              <a:ea typeface="Arial"/>
              <a:cs typeface="Arial"/>
              <a:sym typeface="Arial"/>
            </a:endParaRPr>
          </a:p>
        </p:txBody>
      </p:sp>
      <p:sp>
        <p:nvSpPr>
          <p:cNvPr id="272" name="Google Shape;272;p23"/>
          <p:cNvSpPr/>
          <p:nvPr/>
        </p:nvSpPr>
        <p:spPr>
          <a:xfrm>
            <a:off x="1016000" y="2032000"/>
            <a:ext cx="6604000" cy="5334000"/>
          </a:xfrm>
          <a:prstGeom prst="roundRect">
            <a:avLst>
              <a:gd name="adj" fmla="val 1428"/>
            </a:avLst>
          </a:prstGeom>
          <a:solidFill>
            <a:srgbClr val="F8FAFC"/>
          </a:solidFill>
          <a:ln w="12700" cap="flat" cmpd="sng">
            <a:solidFill>
              <a:srgbClr val="E2E8F0"/>
            </a:solidFill>
            <a:prstDash val="solid"/>
            <a:round/>
            <a:headEnd type="none" w="sm" len="sm"/>
            <a:tailEnd type="none" w="sm" len="sm"/>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3" name="Google Shape;273;p23"/>
          <p:cNvSpPr/>
          <p:nvPr/>
        </p:nvSpPr>
        <p:spPr>
          <a:xfrm>
            <a:off x="1016000" y="2032000"/>
            <a:ext cx="6604000" cy="76200"/>
          </a:xfrm>
          <a:prstGeom prst="roundRect">
            <a:avLst>
              <a:gd name="adj" fmla="val 0"/>
            </a:avLst>
          </a:prstGeom>
          <a:solidFill>
            <a:srgbClr val="3B82F6"/>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4" name="Google Shape;274;p23"/>
          <p:cNvSpPr/>
          <p:nvPr/>
        </p:nvSpPr>
        <p:spPr>
          <a:xfrm>
            <a:off x="1397000" y="2540000"/>
            <a:ext cx="5842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80000"/>
              </a:lnSpc>
              <a:spcBef>
                <a:spcPts val="0"/>
              </a:spcBef>
              <a:spcAft>
                <a:spcPts val="0"/>
              </a:spcAft>
              <a:buNone/>
            </a:pPr>
            <a:r>
              <a:rPr lang="en-US" sz="2800" b="1" i="0" u="none" strike="noStrike" cap="none">
                <a:solidFill>
                  <a:srgbClr val="0F172A"/>
                </a:solidFill>
                <a:latin typeface="Arial"/>
                <a:ea typeface="Arial"/>
                <a:cs typeface="Arial"/>
                <a:sym typeface="Arial"/>
              </a:rPr>
              <a:t>Expected Outcome</a:t>
            </a:r>
            <a:endParaRPr sz="1100" b="0" i="0" u="none" strike="noStrike" cap="none">
              <a:solidFill>
                <a:srgbClr val="000000"/>
              </a:solidFill>
              <a:latin typeface="Arial"/>
              <a:ea typeface="Arial"/>
              <a:cs typeface="Arial"/>
              <a:sym typeface="Arial"/>
            </a:endParaRPr>
          </a:p>
        </p:txBody>
      </p:sp>
      <p:sp>
        <p:nvSpPr>
          <p:cNvPr id="275" name="Google Shape;275;p23"/>
          <p:cNvSpPr/>
          <p:nvPr/>
        </p:nvSpPr>
        <p:spPr>
          <a:xfrm>
            <a:off x="1397000" y="3429000"/>
            <a:ext cx="5842000" cy="3556000"/>
          </a:xfrm>
          <a:prstGeom prst="roundRect">
            <a:avLst>
              <a:gd name="adj" fmla="val 0"/>
            </a:avLst>
          </a:prstGeom>
          <a:noFill/>
          <a:ln>
            <a:noFill/>
          </a:ln>
        </p:spPr>
        <p:txBody>
          <a:bodyPr spcFirstLastPara="1" wrap="square" lIns="101600" tIns="101600" rIns="101600" bIns="101600" anchor="t" anchorCtr="0">
            <a:noAutofit/>
          </a:bodyPr>
          <a:lstStyle/>
          <a:p>
            <a:pPr marL="0" marR="0" lvl="0" indent="0" algn="l" rtl="0">
              <a:lnSpc>
                <a:spcPct val="100000"/>
              </a:lnSpc>
              <a:spcBef>
                <a:spcPts val="0"/>
              </a:spcBef>
              <a:spcAft>
                <a:spcPts val="0"/>
              </a:spcAft>
              <a:buNone/>
            </a:pPr>
            <a:r>
              <a:rPr lang="en-US" sz="2000" b="0" i="0" u="none" strike="noStrike" cap="none">
                <a:solidFill>
                  <a:srgbClr val="475569"/>
                </a:solidFill>
                <a:latin typeface="Arial"/>
                <a:ea typeface="Arial"/>
                <a:cs typeface="Arial"/>
                <a:sym typeface="Arial"/>
              </a:rPr>
              <a:t>• A working lightweight prototype</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0"/>
              </a:spcAft>
              <a:buNone/>
            </a:pPr>
            <a:r>
              <a:rPr lang="en-US" sz="2000" b="0" i="0" u="none" strike="noStrike" cap="none">
                <a:solidFill>
                  <a:srgbClr val="475569"/>
                </a:solidFill>
                <a:latin typeface="Arial"/>
                <a:ea typeface="Arial"/>
                <a:cs typeface="Arial"/>
                <a:sym typeface="Arial"/>
              </a:rPr>
              <a:t>• Safe outside-in checks</a:t>
            </a:r>
            <a:endParaRPr/>
          </a:p>
          <a:p>
            <a:pPr marL="0" marR="0" lvl="0" indent="0" algn="l" rtl="0">
              <a:lnSpc>
                <a:spcPct val="100000"/>
              </a:lnSpc>
              <a:spcBef>
                <a:spcPts val="2000"/>
              </a:spcBef>
              <a:spcAft>
                <a:spcPts val="0"/>
              </a:spcAft>
              <a:buNone/>
            </a:pPr>
            <a:r>
              <a:rPr lang="en-US" sz="2000" b="0" i="0" u="none" strike="noStrike" cap="none">
                <a:solidFill>
                  <a:srgbClr val="475569"/>
                </a:solidFill>
                <a:latin typeface="Arial"/>
                <a:ea typeface="Arial"/>
                <a:cs typeface="Arial"/>
                <a:sym typeface="Arial"/>
              </a:rPr>
              <a:t>• Executive-readable risk report</a:t>
            </a:r>
            <a:endParaRPr/>
          </a:p>
          <a:p>
            <a:pPr marL="0" marR="0" lvl="0" indent="0" algn="l" rtl="0">
              <a:lnSpc>
                <a:spcPct val="100000"/>
              </a:lnSpc>
              <a:spcBef>
                <a:spcPts val="2000"/>
              </a:spcBef>
              <a:spcAft>
                <a:spcPts val="0"/>
              </a:spcAft>
              <a:buNone/>
            </a:pPr>
            <a:r>
              <a:rPr lang="en-US" sz="2000" b="0" i="0" u="none" strike="noStrike" cap="none">
                <a:solidFill>
                  <a:srgbClr val="475569"/>
                </a:solidFill>
                <a:latin typeface="Arial"/>
                <a:ea typeface="Arial"/>
                <a:cs typeface="Arial"/>
                <a:sym typeface="Arial"/>
              </a:rPr>
              <a:t>• Technical appendix for security</a:t>
            </a:r>
            <a:endParaRPr/>
          </a:p>
          <a:p>
            <a:pPr marL="0" marR="0" lvl="0" indent="0" algn="l" rtl="0">
              <a:lnSpc>
                <a:spcPct val="100000"/>
              </a:lnSpc>
              <a:spcBef>
                <a:spcPts val="2000"/>
              </a:spcBef>
              <a:spcAft>
                <a:spcPts val="0"/>
              </a:spcAft>
              <a:buNone/>
            </a:pPr>
            <a:r>
              <a:rPr lang="en-US" sz="2000" b="0" i="0" u="none" strike="noStrike" cap="none">
                <a:solidFill>
                  <a:srgbClr val="475569"/>
                </a:solidFill>
                <a:latin typeface="Arial"/>
                <a:ea typeface="Arial"/>
                <a:cs typeface="Arial"/>
                <a:sym typeface="Arial"/>
              </a:rPr>
              <a:t>• Prioritized recommendations</a:t>
            </a:r>
            <a:endParaRPr/>
          </a:p>
        </p:txBody>
      </p:sp>
      <p:sp>
        <p:nvSpPr>
          <p:cNvPr id="276" name="Google Shape;276;p23"/>
          <p:cNvSpPr/>
          <p:nvPr/>
        </p:nvSpPr>
        <p:spPr>
          <a:xfrm>
            <a:off x="8128000" y="2032000"/>
            <a:ext cx="6604000" cy="5334000"/>
          </a:xfrm>
          <a:prstGeom prst="roundRect">
            <a:avLst>
              <a:gd name="adj" fmla="val 1428"/>
            </a:avLst>
          </a:prstGeom>
          <a:solidFill>
            <a:srgbClr val="F8FAFC"/>
          </a:solidFill>
          <a:ln w="12700" cap="flat" cmpd="sng">
            <a:solidFill>
              <a:srgbClr val="E2E8F0"/>
            </a:solidFill>
            <a:prstDash val="solid"/>
            <a:round/>
            <a:headEnd type="none" w="sm" len="sm"/>
            <a:tailEnd type="none" w="sm" len="sm"/>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 name="Google Shape;277;p23"/>
          <p:cNvSpPr/>
          <p:nvPr/>
        </p:nvSpPr>
        <p:spPr>
          <a:xfrm>
            <a:off x="8128000" y="2032000"/>
            <a:ext cx="6604000" cy="76200"/>
          </a:xfrm>
          <a:prstGeom prst="roundRect">
            <a:avLst>
              <a:gd name="adj" fmla="val 0"/>
            </a:avLst>
          </a:prstGeom>
          <a:solidFill>
            <a:srgbClr val="1E3A8A"/>
          </a:solid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 name="Google Shape;278;p23"/>
          <p:cNvSpPr/>
          <p:nvPr/>
        </p:nvSpPr>
        <p:spPr>
          <a:xfrm>
            <a:off x="8509000" y="2540000"/>
            <a:ext cx="5842000" cy="508000"/>
          </a:xfrm>
          <a:prstGeom prst="rect">
            <a:avLst/>
          </a:prstGeom>
          <a:noFill/>
          <a:ln>
            <a:noFill/>
          </a:ln>
        </p:spPr>
        <p:txBody>
          <a:bodyPr spcFirstLastPara="1" wrap="square" lIns="101600" tIns="101600" rIns="101600" bIns="101600" anchor="ctr" anchorCtr="0">
            <a:noAutofit/>
          </a:bodyPr>
          <a:lstStyle/>
          <a:p>
            <a:pPr marL="0" marR="0" lvl="0" indent="0" algn="l" rtl="0">
              <a:lnSpc>
                <a:spcPct val="80000"/>
              </a:lnSpc>
              <a:spcBef>
                <a:spcPts val="0"/>
              </a:spcBef>
              <a:spcAft>
                <a:spcPts val="0"/>
              </a:spcAft>
              <a:buNone/>
            </a:pPr>
            <a:r>
              <a:rPr lang="en-US" sz="2800" b="1" i="0" u="none" strike="noStrike" cap="none">
                <a:solidFill>
                  <a:srgbClr val="0F172A"/>
                </a:solidFill>
                <a:latin typeface="Arial"/>
                <a:ea typeface="Arial"/>
                <a:cs typeface="Arial"/>
                <a:sym typeface="Arial"/>
              </a:rPr>
              <a:t>Project Value</a:t>
            </a:r>
            <a:endParaRPr sz="1100" b="0" i="0" u="none" strike="noStrike" cap="none">
              <a:solidFill>
                <a:srgbClr val="000000"/>
              </a:solidFill>
              <a:latin typeface="Arial"/>
              <a:ea typeface="Arial"/>
              <a:cs typeface="Arial"/>
              <a:sym typeface="Arial"/>
            </a:endParaRPr>
          </a:p>
        </p:txBody>
      </p:sp>
      <p:sp>
        <p:nvSpPr>
          <p:cNvPr id="279" name="Google Shape;279;p23"/>
          <p:cNvSpPr/>
          <p:nvPr/>
        </p:nvSpPr>
        <p:spPr>
          <a:xfrm>
            <a:off x="8509000" y="3429000"/>
            <a:ext cx="5842000" cy="3556000"/>
          </a:xfrm>
          <a:prstGeom prst="roundRect">
            <a:avLst>
              <a:gd name="adj" fmla="val 0"/>
            </a:avLst>
          </a:prstGeom>
          <a:noFill/>
          <a:ln>
            <a:noFill/>
          </a:ln>
        </p:spPr>
        <p:txBody>
          <a:bodyPr spcFirstLastPara="1" wrap="square" lIns="101600" tIns="101600" rIns="101600" bIns="101600" anchor="t" anchorCtr="0">
            <a:noAutofit/>
          </a:bodyPr>
          <a:lstStyle/>
          <a:p>
            <a:pPr marL="0" marR="0" lvl="0" indent="0" algn="l" rtl="0">
              <a:lnSpc>
                <a:spcPct val="100000"/>
              </a:lnSpc>
              <a:spcBef>
                <a:spcPts val="0"/>
              </a:spcBef>
              <a:spcAft>
                <a:spcPts val="0"/>
              </a:spcAft>
              <a:buNone/>
            </a:pPr>
            <a:r>
              <a:rPr lang="en-US" sz="2000" b="0" i="0" u="none" strike="noStrike" cap="none">
                <a:solidFill>
                  <a:srgbClr val="475569"/>
                </a:solidFill>
                <a:latin typeface="Arial"/>
                <a:ea typeface="Arial"/>
                <a:cs typeface="Arial"/>
                <a:sym typeface="Arial"/>
              </a:rPr>
              <a:t>• Makes external exposure understandable</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0"/>
              </a:spcAft>
              <a:buNone/>
            </a:pPr>
            <a:r>
              <a:rPr lang="en-US" sz="2000" b="0" i="0" u="none" strike="noStrike" cap="none">
                <a:solidFill>
                  <a:srgbClr val="475569"/>
                </a:solidFill>
                <a:latin typeface="Arial"/>
                <a:ea typeface="Arial"/>
                <a:cs typeface="Arial"/>
                <a:sym typeface="Arial"/>
              </a:rPr>
              <a:t>• Helps executives make informed decisions</a:t>
            </a:r>
            <a:endParaRPr/>
          </a:p>
          <a:p>
            <a:pPr marL="0" marR="0" lvl="0" indent="0" algn="l" rtl="0">
              <a:lnSpc>
                <a:spcPct val="100000"/>
              </a:lnSpc>
              <a:spcBef>
                <a:spcPts val="2000"/>
              </a:spcBef>
              <a:spcAft>
                <a:spcPts val="0"/>
              </a:spcAft>
              <a:buNone/>
            </a:pPr>
            <a:r>
              <a:rPr lang="en-US" sz="2000" b="0" i="0" u="none" strike="noStrike" cap="none">
                <a:solidFill>
                  <a:srgbClr val="475569"/>
                </a:solidFill>
                <a:latin typeface="Arial"/>
                <a:ea typeface="Arial"/>
                <a:cs typeface="Arial"/>
                <a:sym typeface="Arial"/>
              </a:rPr>
              <a:t>• Bridges technical findings &amp; business risk</a:t>
            </a:r>
            <a:endParaRPr/>
          </a:p>
          <a:p>
            <a:pPr marL="0" marR="0" lvl="0" indent="0" algn="l" rtl="0">
              <a:lnSpc>
                <a:spcPct val="100000"/>
              </a:lnSpc>
              <a:spcBef>
                <a:spcPts val="2000"/>
              </a:spcBef>
              <a:spcAft>
                <a:spcPts val="0"/>
              </a:spcAft>
              <a:buNone/>
            </a:pPr>
            <a:r>
              <a:rPr lang="en-US" sz="2000" b="0" i="0" u="none" strike="noStrike" cap="none">
                <a:solidFill>
                  <a:srgbClr val="475569"/>
                </a:solidFill>
                <a:latin typeface="Arial"/>
                <a:ea typeface="Arial"/>
                <a:cs typeface="Arial"/>
                <a:sym typeface="Arial"/>
              </a:rPr>
              <a:t>• Supports safer enterprise governance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7"/>
        <p:cNvGrpSpPr/>
        <p:nvPr/>
      </p:nvGrpSpPr>
      <p:grpSpPr>
        <a:xfrm>
          <a:off x="0" y="0"/>
          <a:ext cx="0" cy="0"/>
          <a:chOff x="0" y="0"/>
          <a:chExt cx="0" cy="0"/>
        </a:xfrm>
      </p:grpSpPr>
      <p:sp>
        <p:nvSpPr>
          <p:cNvPr id="288" name="Google Shape;288;p24"/>
          <p:cNvSpPr/>
          <p:nvPr/>
        </p:nvSpPr>
        <p:spPr>
          <a:xfrm>
            <a:off x="1778000" y="3556000"/>
            <a:ext cx="12699900" cy="2395500"/>
          </a:xfrm>
          <a:prstGeom prst="rect">
            <a:avLst/>
          </a:prstGeom>
          <a:noFill/>
          <a:ln>
            <a:noFill/>
          </a:ln>
        </p:spPr>
        <p:txBody>
          <a:bodyPr spcFirstLastPara="1" wrap="square" lIns="101600" tIns="101600" rIns="101600" bIns="101600" anchor="ctr" anchorCtr="0">
            <a:noAutofit/>
          </a:bodyPr>
          <a:lstStyle/>
          <a:p>
            <a:pPr marL="0" marR="0" lvl="0" indent="0" algn="ctr" rtl="0">
              <a:lnSpc>
                <a:spcPct val="100000"/>
              </a:lnSpc>
              <a:spcBef>
                <a:spcPts val="0"/>
              </a:spcBef>
              <a:spcAft>
                <a:spcPts val="0"/>
              </a:spcAft>
              <a:buNone/>
            </a:pPr>
            <a:r>
              <a:rPr lang="en-US" sz="6400" b="1" i="0" u="none" strike="noStrike" cap="none">
                <a:solidFill>
                  <a:srgbClr val="FFFFFF"/>
                </a:solidFill>
                <a:latin typeface="Arial"/>
                <a:ea typeface="Arial"/>
                <a:cs typeface="Arial"/>
                <a:sym typeface="Arial"/>
              </a:rPr>
              <a:t>See Yourself Before Attackers Do.</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2000"/>
              </a:spcBef>
              <a:spcAft>
                <a:spcPts val="0"/>
              </a:spcAft>
              <a:buNone/>
            </a:pPr>
            <a:r>
              <a:rPr lang="en-US" sz="2800" b="0" i="0" u="none" strike="noStrike" cap="none">
                <a:solidFill>
                  <a:srgbClr val="94A3B8"/>
                </a:solidFill>
                <a:latin typeface="Arial"/>
                <a:ea typeface="Arial"/>
                <a:cs typeface="Arial"/>
                <a:sym typeface="Arial"/>
              </a:rPr>
              <a:t>PROBE for Executives</a:t>
            </a:r>
            <a:endParaRPr/>
          </a:p>
          <a:p>
            <a:pPr marL="0" marR="0" lvl="0" indent="0" algn="ctr" rtl="0">
              <a:lnSpc>
                <a:spcPct val="100000"/>
              </a:lnSpc>
              <a:spcBef>
                <a:spcPts val="1000"/>
              </a:spcBef>
              <a:spcAft>
                <a:spcPts val="0"/>
              </a:spcAft>
              <a:buNone/>
            </a:pPr>
            <a:r>
              <a:rPr lang="en-US" sz="1800" b="0" i="0" u="none" strike="noStrike" cap="none">
                <a:solidFill>
                  <a:srgbClr val="64748B"/>
                </a:solidFill>
                <a:latin typeface="Arial"/>
                <a:ea typeface="Arial"/>
                <a:cs typeface="Arial"/>
                <a:sym typeface="Arial"/>
              </a:rPr>
              <a:t>Public Risk Observation and Business Exposure Reporting</a:t>
            </a: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1420</Words>
  <Application>Microsoft Office PowerPoint</Application>
  <PresentationFormat>Custom</PresentationFormat>
  <Paragraphs>215</Paragraphs>
  <Slides>12</Slides>
  <Notes>12</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12</vt:i4>
      </vt:variant>
    </vt:vector>
  </HeadingPairs>
  <TitlesOfParts>
    <vt:vector size="16" baseType="lpstr">
      <vt:lpstr>Arial</vt:lpstr>
      <vt:lpstr>Times New Roman</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Abdul Hardi Umar</dc:creator>
  <cp:lastModifiedBy>Abdul Hardi Umar</cp:lastModifiedBy>
  <cp:revision>3</cp:revision>
  <dcterms:modified xsi:type="dcterms:W3CDTF">2026-05-20T03:43:34Z</dcterms:modified>
</cp:coreProperties>
</file>